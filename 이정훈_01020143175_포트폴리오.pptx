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6" r:id="rId4"/>
    <p:sldId id="267" r:id="rId5"/>
    <p:sldId id="268" r:id="rId6"/>
    <p:sldId id="269" r:id="rId7"/>
    <p:sldId id="270" r:id="rId8"/>
    <p:sldId id="265" r:id="rId9"/>
    <p:sldId id="260" r:id="rId10"/>
    <p:sldId id="274" r:id="rId11"/>
    <p:sldId id="271" r:id="rId12"/>
    <p:sldId id="275" r:id="rId13"/>
    <p:sldId id="276" r:id="rId14"/>
    <p:sldId id="277" r:id="rId15"/>
    <p:sldId id="261" r:id="rId16"/>
    <p:sldId id="262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9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3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341538050476442E-2"/>
          <c:y val="5.6606515978488668E-3"/>
          <c:w val="0.94972517342188634"/>
          <c:h val="0.8873219772606313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gradFill>
              <a:gsLst>
                <a:gs pos="0">
                  <a:schemeClr val="lt1">
                    <a:alpha val="50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lin ang="5400000" scaled="0"/>
            </a:gradFill>
            <a:ln>
              <a:solidFill>
                <a:schemeClr val="dk1">
                  <a:tint val="88500"/>
                </a:schemeClr>
              </a:solidFill>
            </a:ln>
            <a:effectLst>
              <a:innerShdw dist="38100" dir="16200000">
                <a:schemeClr val="lt1"/>
              </a:innerShdw>
            </a:effectLst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dk1">
                          <a:tint val="88500"/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  <c:pt idx="5">
                  <c:v>8월</c:v>
                </c:pt>
                <c:pt idx="6">
                  <c:v>9월</c:v>
                </c:pt>
                <c:pt idx="7">
                  <c:v>10월</c:v>
                </c:pt>
                <c:pt idx="8">
                  <c:v>11월</c:v>
                </c:pt>
                <c:pt idx="9">
                  <c:v>12월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89</c:v>
                </c:pt>
                <c:pt idx="1">
                  <c:v>111</c:v>
                </c:pt>
                <c:pt idx="2">
                  <c:v>131</c:v>
                </c:pt>
                <c:pt idx="3">
                  <c:v>224</c:v>
                </c:pt>
                <c:pt idx="4">
                  <c:v>239</c:v>
                </c:pt>
                <c:pt idx="5">
                  <c:v>246</c:v>
                </c:pt>
                <c:pt idx="6">
                  <c:v>251</c:v>
                </c:pt>
                <c:pt idx="7">
                  <c:v>263</c:v>
                </c:pt>
                <c:pt idx="8">
                  <c:v>269</c:v>
                </c:pt>
                <c:pt idx="9">
                  <c:v>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CF-4725-8968-7D5422B0DA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5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axId val="-1981670272"/>
        <c:axId val="-1981665376"/>
      </c:areaChart>
      <c:catAx>
        <c:axId val="-198167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tint val="88500"/>
                <a:lumMod val="40000"/>
                <a:lumOff val="60000"/>
                <a:alpha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-1981665376"/>
        <c:crosses val="autoZero"/>
        <c:auto val="1"/>
        <c:lblAlgn val="ctr"/>
        <c:lblOffset val="100"/>
        <c:noMultiLvlLbl val="0"/>
      </c:catAx>
      <c:valAx>
        <c:axId val="-19816653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19816702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tint val="88500"/>
      </a:schemeClr>
    </a:solidFill>
    <a:ln w="9525" cap="flat" cmpd="sng" algn="ctr">
      <a:solidFill>
        <a:schemeClr val="dk1">
          <a:tint val="885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5">
  <cs:axisTitle>
    <cs:lnRef idx="0"/>
    <cs:fillRef idx="0"/>
    <cs:effectRef idx="0"/>
    <cs:fontRef idx="minor">
      <a:schemeClr val="lt1"/>
    </cs:fontRef>
    <cs:defRPr sz="1197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9525" cap="flat" cmpd="sng" algn="ctr">
        <a:solidFill>
          <a:schemeClr val="phClr">
            <a:lumMod val="40000"/>
            <a:lumOff val="60000"/>
            <a:alpha val="25000"/>
          </a:schemeClr>
        </a:solidFill>
        <a:round/>
      </a:ln>
    </cs:spPr>
    <cs:defRPr sz="1197" kern="1200"/>
  </cs:categoryAxis>
  <cs:chartArea>
    <cs:lnRef idx="0">
      <cs:styleClr val="0"/>
    </cs:lnRef>
    <cs:fillRef idx="0">
      <cs:styleClr val="0"/>
    </cs:fillRef>
    <cs:effectRef idx="0"/>
    <cs:fontRef idx="minor">
      <a:schemeClr val="lt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/>
    <cs:fontRef idx="minor">
      <a:schemeClr val="tx1"/>
    </cs:fontRef>
    <cs:spPr>
      <a:gradFill>
        <a:gsLst>
          <a:gs pos="0">
            <a:schemeClr val="lt1">
              <a:alpha val="50000"/>
            </a:schemeClr>
          </a:gs>
          <a:gs pos="100000">
            <a:schemeClr val="lt1">
              <a:alpha val="0"/>
            </a:schemeClr>
          </a:gs>
        </a:gsLst>
        <a:lin ang="5400000" scaled="0"/>
      </a:gradFill>
      <a:ln>
        <a:solidFill>
          <a:schemeClr val="phClr"/>
        </a:solidFill>
      </a:ln>
      <a:effectLst>
        <a:innerShdw dist="38100" dir="16200000">
          <a:schemeClr val="lt1"/>
        </a:innerShdw>
      </a:effectLst>
    </cs:spPr>
  </cs:dataPoint>
  <cs:dataPoint3D>
    <cs:lnRef idx="0">
      <cs:styleClr val="auto"/>
    </cs:lnRef>
    <cs:fillRef idx="0"/>
    <cs:effectRef idx="0"/>
    <cs:fontRef idx="minor">
      <a:schemeClr val="lt1"/>
    </cs:fontRef>
    <cs:spPr>
      <a:gradFill>
        <a:gsLst>
          <a:gs pos="0">
            <a:schemeClr val="lt1">
              <a:alpha val="50000"/>
            </a:schemeClr>
          </a:gs>
          <a:gs pos="100000">
            <a:schemeClr val="lt1">
              <a:alpha val="0"/>
            </a:schemeClr>
          </a:gs>
        </a:gsLst>
        <a:lin ang="5400000" scaled="0"/>
      </a:gradFill>
      <a:ln>
        <a:solidFill>
          <a:schemeClr val="phClr"/>
        </a:solidFill>
      </a:ln>
      <a:effectLst>
        <a:innerShdw dist="38100" dir="16200000">
          <a:schemeClr val="lt1"/>
        </a:innerShdw>
      </a:effectLst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lt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40000"/>
            <a:lumOff val="60000"/>
            <a:alpha val="25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lt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 cap="flat" cmpd="sng" algn="ctr">
        <a:gradFill>
          <a:gsLst>
            <a:gs pos="0">
              <a:schemeClr val="lt1"/>
            </a:gs>
            <a:gs pos="5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lt1"/>
    </cs:fontRef>
  </cs:floor>
  <cs:gridlineMajor>
    <cs:lnRef idx="0">
      <cs:styleClr val="0"/>
    </cs:lnRef>
    <cs:fillRef idx="0"/>
    <cs:effectRef idx="0"/>
    <cs:fontRef idx="minor">
      <a:schemeClr val="lt1"/>
    </cs:fontRef>
    <cs:spPr>
      <a:ln>
        <a:solidFill>
          <a:schemeClr val="phClr">
            <a:lumMod val="40000"/>
            <a:lumOff val="60000"/>
            <a:alpha val="25000"/>
          </a:schemeClr>
        </a:solidFill>
      </a:ln>
    </cs:spPr>
  </cs:gridlineMajor>
  <cs:gridlineMinor>
    <cs:lnRef idx="0">
      <cs:styleClr val="0"/>
    </cs:lnRef>
    <cs:fillRef idx="0"/>
    <cs:effectRef idx="0"/>
    <cs:fontRef idx="minor">
      <a:schemeClr val="lt1"/>
    </cs:fontRef>
    <cs:spPr>
      <a:ln>
        <a:solidFill>
          <a:schemeClr val="phClr">
            <a:lumMod val="40000"/>
            <a:lumOff val="60000"/>
            <a:alpha val="25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</cs:hiLoLine>
  <cs:leader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9525" cap="flat" cmpd="sng" algn="ctr">
        <a:solidFill>
          <a:schemeClr val="phClr">
            <a:lumMod val="40000"/>
            <a:lumOff val="60000"/>
            <a:alpha val="25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lt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lt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  <cs:bodyPr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6FA43-AC63-4ED1-9248-5960BB509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AB7620-D252-4422-B88B-50BF2865C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D6BAC2-D122-41DD-8EC4-59E75B9FA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291B7D-3B85-40EE-8904-D4DBD600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D7DCA2-2042-414B-9FBD-9BCB03B3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63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8AB6A-8899-4B16-9C8F-64E8A62C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DA04AB-2B4E-4BCC-B608-1529E5C30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557499-CAC5-4898-B8AC-725D9A394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33102D-1E0A-4F84-9C62-82B74E42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4B49F-84E0-4EFE-A777-37E59782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37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2D864-978D-4D4E-B252-58BD778A5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8D99B1-CBDD-47DE-ABB4-2ECC9B5BF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DF6B00-F76D-4E92-8905-82549968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9FDA6E-DB84-4247-A6FA-54519067D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B9D11D-BC7E-42F5-B016-DCF3CC8E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34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F736E-CF85-410A-90F7-F27ED2AA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B02D60-C5C5-48BC-A04D-674731ADA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967DC0-3F8F-42AA-A859-A8997415E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BBE8AD-53B1-47A4-BF74-AA1C6A5C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D167DD-71FF-4C11-9BDE-AF9FF8DE0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C99CAF-16E1-40E5-AC9C-E81EFBE68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006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E0BEB-4E39-4EFB-AF3E-4EABCD618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ED3BAF-6E69-4C8F-9423-D95482C47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9636A1-8FA2-429C-8F1D-E4F6642AC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032792-ABC4-4E95-8C5F-A776FCF79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D4EF34-49D5-4B7F-A404-AEEC789EE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F6ED10-1712-4A9E-BEA7-F304A7563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823B05-1557-4B39-A3C3-57C40935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167069-F201-455B-A7E3-D4C8B93B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214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3D165-0EC1-44DD-9D5E-BAAD320E4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F3206C-DF57-4689-9FB7-33731D284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4502DA-D604-442F-8CDF-F13666BF8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5B22D8-DA7F-4EF6-B2A5-34EBF650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56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8F7D3C-D8F0-403B-8E37-A69B0C7D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B5CAEA-3187-44A8-9522-080338CE6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87FDF7-95C3-4F70-9934-1D1D28D2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66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27DAD-F77E-4416-835D-96101EB9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727E33-7599-4FB6-A454-5D0E29293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ED80CF-669E-4FCB-A79F-CCC226E5E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BEA837-7730-46F7-83FD-9DCBB5DF0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C9D44F-CACD-4143-B8E0-3E56156E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908E33-70AB-4DF3-BD3C-D729E4DD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009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DCF6F-118C-4630-B7FD-56E256874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9B50EAD-1CBF-4271-907F-A5FD1CD62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C743E7-77D5-47C7-92D7-B9D4CF0A2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C76B92-B4D2-4891-8BC2-99515B46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603EED-F9BF-4FDC-B028-80E6C733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522C5D-AA5F-45E4-9CA9-16E76B07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074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CE824-6C04-469D-A873-B7887C4E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9E66A4-256C-4BA2-9936-8CBD579D2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A084DF-BC0E-4246-B90C-147D59689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E68ACB-063D-416F-AE49-2A9533F0D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30674E-4EA7-4C65-A93C-F940E1AE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854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3221AE-CFBA-4481-B64C-3373B4624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DF4542-D286-41CD-BBDB-C286B5FA2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3E84EE-A4F7-4E5E-BFEF-6D9B0219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FADCC7-2ADF-411D-B9B5-EEFA5B265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D1B2F0-F576-4C52-B732-C3A3BA07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36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A2F54CE-EAF5-403B-94A7-59A333C9A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56ED0E-10BF-4B93-B8F3-9529C92ED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120255-B153-46BA-8E5A-FFC4D8F2C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C6BAE-F2C9-4CEB-8856-6887EBA6254D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790ED-CCE9-44AD-8C87-969A36F86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88EBD6-C313-483C-9A71-AF5A1F285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38576-3682-4218-8146-87A4D018022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15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3392488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32136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32491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3392488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ctr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4000" i="1" spc="3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Tmon몬소리 Black" panose="02000A03000000000000" pitchFamily="2" charset="-127"/>
              <a:ea typeface="Tmon몬소리 Black" panose="02000A03000000000000" pitchFamily="2" charset="-127"/>
              <a:cs typeface="Noto Sans" panose="020B0502040504020204" pitchFamily="34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4000" i="1" spc="3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  <a:cs typeface="Noto Sans" panose="020B0502040504020204" pitchFamily="34"/>
              </a:rPr>
              <a:t>Lee </a:t>
            </a:r>
            <a:r>
              <a:rPr lang="en-US" altLang="ko-KR" sz="4300" i="1" spc="30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  <a:cs typeface="Noto Sans" panose="020B0502040504020204" pitchFamily="34"/>
              </a:rPr>
              <a:t>Jeong</a:t>
            </a:r>
            <a:r>
              <a:rPr lang="en-US" altLang="ko-KR" sz="4000" i="1" spc="3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  <a:cs typeface="Noto Sans" panose="020B0502040504020204" pitchFamily="34"/>
              </a:rPr>
              <a:t> Hun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i="1" kern="0" dirty="0">
              <a:solidFill>
                <a:schemeClr val="bg1"/>
              </a:solidFill>
            </a:endParaRPr>
          </a:p>
          <a:p>
            <a:pPr algn="ctr" latinLnBrk="0">
              <a:defRPr/>
            </a:pPr>
            <a:r>
              <a:rPr lang="ko-KR" altLang="en-US" sz="1500" spc="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" panose="020B0502040504020204" pitchFamily="34"/>
              </a:rPr>
              <a:t>나이는 강제지만 성장은 선택이다</a:t>
            </a:r>
            <a:r>
              <a:rPr lang="en-US" altLang="ko-KR" sz="1500" spc="6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" panose="020B0502040504020204" pitchFamily="34"/>
              </a:rPr>
              <a:t>.</a:t>
            </a:r>
            <a:endParaRPr lang="en-US" altLang="ko-KR" sz="1500" spc="6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나눔명조OTF ExtraBold" panose="02020603020101020101" pitchFamily="18" charset="-127"/>
              <a:ea typeface="나눔명조OTF ExtraBold" panose="02020603020101020101" pitchFamily="18" charset="-127"/>
              <a:cs typeface="Noto Sans" panose="020B0502040504020204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048000" y="4328836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latinLnBrk="0">
              <a:defRPr/>
            </a:pPr>
            <a:r>
              <a:rPr lang="ko-KR" altLang="en-US" sz="2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 Light" panose="020B0402040504020204" pitchFamily="34"/>
              </a:rPr>
              <a:t>안녕하세요</a:t>
            </a:r>
            <a:r>
              <a:rPr lang="en-US" altLang="ko-KR" sz="2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 Light" panose="020B0402040504020204" pitchFamily="34"/>
              </a:rPr>
              <a:t>. </a:t>
            </a:r>
            <a:r>
              <a:rPr lang="ko-KR" altLang="en-US" sz="2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 Light" panose="020B0402040504020204" pitchFamily="34"/>
              </a:rPr>
              <a:t>매일 성장하고 있는 이정훈 입니다</a:t>
            </a:r>
            <a:r>
              <a:rPr lang="en-US" altLang="ko-KR" sz="2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 Light" panose="020B0402040504020204" pitchFamily="3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0660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dirty="0">
                <a:solidFill>
                  <a:schemeClr val="bg1"/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 Blk" panose="020B0A02040504020204" pitchFamily="34"/>
              </a:rPr>
              <a:t>CONTENTS</a:t>
            </a:r>
            <a:endParaRPr lang="ko-KR" altLang="en-US" b="1" i="1" dirty="0">
              <a:solidFill>
                <a:schemeClr val="bg1"/>
              </a:solidFill>
              <a:latin typeface="나눔명조OTF ExtraBold" panose="02020603020101020101" pitchFamily="18" charset="-127"/>
              <a:ea typeface="나눔명조OTF ExtraBold" panose="0202060302010102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527860-A78A-4178-96B1-64315CEDD700}"/>
              </a:ext>
            </a:extLst>
          </p:cNvPr>
          <p:cNvSpPr txBox="1"/>
          <p:nvPr/>
        </p:nvSpPr>
        <p:spPr>
          <a:xfrm>
            <a:off x="439880" y="1836752"/>
            <a:ext cx="50660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 b="1" spc="90" dirty="0">
                <a:solidFill>
                  <a:schemeClr val="bg2">
                    <a:lumMod val="25000"/>
                  </a:schemeClr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" panose="020B0502040504020204" pitchFamily="34"/>
              </a:rPr>
              <a:t>Part1 </a:t>
            </a:r>
            <a:r>
              <a:rPr lang="ko-KR" altLang="en-US" sz="3200" b="1" spc="90" dirty="0">
                <a:solidFill>
                  <a:schemeClr val="bg2">
                    <a:lumMod val="25000"/>
                  </a:schemeClr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" panose="020B0502040504020204" pitchFamily="34"/>
              </a:rPr>
              <a:t>자기소개</a:t>
            </a:r>
            <a:endParaRPr lang="en-US" sz="3200" b="1" spc="90" dirty="0">
              <a:solidFill>
                <a:schemeClr val="bg2">
                  <a:lumMod val="25000"/>
                </a:schemeClr>
              </a:solidFill>
              <a:latin typeface="나눔명조OTF ExtraBold" panose="02020603020101020101" pitchFamily="18" charset="-127"/>
              <a:ea typeface="나눔명조OTF ExtraBold" panose="02020603020101020101" pitchFamily="18" charset="-127"/>
              <a:cs typeface="Noto Sans" panose="020B0502040504020204" pitchFamily="3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D7A1D5-5301-4B84-8834-FFE229BB06A0}"/>
              </a:ext>
            </a:extLst>
          </p:cNvPr>
          <p:cNvSpPr txBox="1"/>
          <p:nvPr/>
        </p:nvSpPr>
        <p:spPr>
          <a:xfrm>
            <a:off x="439880" y="3254127"/>
            <a:ext cx="45988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 b="1" spc="90" dirty="0">
                <a:solidFill>
                  <a:schemeClr val="bg2">
                    <a:lumMod val="25000"/>
                  </a:schemeClr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" panose="020B0502040504020204" pitchFamily="34"/>
              </a:rPr>
              <a:t>Part2 </a:t>
            </a:r>
            <a:r>
              <a:rPr lang="ko-KR" altLang="en-US" sz="3200" b="1" spc="90" dirty="0">
                <a:solidFill>
                  <a:schemeClr val="bg2">
                    <a:lumMod val="25000"/>
                  </a:schemeClr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" panose="020B0502040504020204" pitchFamily="34"/>
              </a:rPr>
              <a:t>담당 프로젝트</a:t>
            </a:r>
            <a:endParaRPr lang="en-US" sz="3200" b="1" spc="90" dirty="0">
              <a:solidFill>
                <a:schemeClr val="bg2">
                  <a:lumMod val="25000"/>
                </a:schemeClr>
              </a:solidFill>
              <a:latin typeface="나눔명조OTF ExtraBold" panose="02020603020101020101" pitchFamily="18" charset="-127"/>
              <a:ea typeface="나눔명조OTF ExtraBold" panose="02020603020101020101" pitchFamily="18" charset="-127"/>
              <a:cs typeface="Noto Sans" panose="020B0502040504020204" pitchFamily="3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FF9D75-1758-4317-A1D6-C96DF3DA97BF}"/>
              </a:ext>
            </a:extLst>
          </p:cNvPr>
          <p:cNvSpPr txBox="1"/>
          <p:nvPr/>
        </p:nvSpPr>
        <p:spPr>
          <a:xfrm>
            <a:off x="439880" y="4671502"/>
            <a:ext cx="50660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3200" b="1" spc="90" dirty="0">
                <a:solidFill>
                  <a:schemeClr val="bg2">
                    <a:lumMod val="25000"/>
                  </a:schemeClr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" panose="020B0502040504020204" pitchFamily="34"/>
              </a:rPr>
              <a:t>Part3 </a:t>
            </a:r>
            <a:r>
              <a:rPr lang="ko-KR" altLang="en-US" sz="3200" b="1" spc="90" dirty="0">
                <a:solidFill>
                  <a:schemeClr val="bg2">
                    <a:lumMod val="25000"/>
                  </a:schemeClr>
                </a:solidFill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" panose="020B0502040504020204" pitchFamily="34"/>
              </a:rPr>
              <a:t>테스트기법 및 관리</a:t>
            </a:r>
            <a:endParaRPr lang="en-US" sz="3200" b="1" spc="90" dirty="0">
              <a:solidFill>
                <a:schemeClr val="bg2">
                  <a:lumMod val="25000"/>
                </a:schemeClr>
              </a:solidFill>
              <a:latin typeface="나눔명조OTF ExtraBold" panose="02020603020101020101" pitchFamily="18" charset="-127"/>
              <a:ea typeface="나눔명조OTF ExtraBold" panose="02020603020101020101" pitchFamily="18" charset="-127"/>
              <a:cs typeface="Noto Sans" panose="020B0502040504020204" pitchFamily="34"/>
            </a:endParaRPr>
          </a:p>
        </p:txBody>
      </p:sp>
      <p:pic>
        <p:nvPicPr>
          <p:cNvPr id="43" name="그림 개체 틀 10">
            <a:extLst>
              <a:ext uri="{FF2B5EF4-FFF2-40B4-BE49-F238E27FC236}">
                <a16:creationId xmlns:a16="http://schemas.microsoft.com/office/drawing/2014/main" id="{9382CA82-514E-48CA-967C-DBF7F80364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62" r="24762"/>
          <a:stretch>
            <a:fillRect/>
          </a:stretch>
        </p:blipFill>
        <p:spPr>
          <a:xfrm>
            <a:off x="6919092" y="1418904"/>
            <a:ext cx="3910833" cy="499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4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1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자기소개</a:t>
            </a:r>
            <a:endParaRPr lang="ko-KR" altLang="en-US" sz="2400" i="1" dirty="0">
              <a:solidFill>
                <a:schemeClr val="bg1"/>
              </a:solidFill>
            </a:endParaRPr>
          </a:p>
        </p:txBody>
      </p:sp>
      <p:pic>
        <p:nvPicPr>
          <p:cNvPr id="19" name="그림 개체 틀 7">
            <a:extLst>
              <a:ext uri="{FF2B5EF4-FFF2-40B4-BE49-F238E27FC236}">
                <a16:creationId xmlns:a16="http://schemas.microsoft.com/office/drawing/2014/main" id="{E511BAD4-0C62-4458-82BB-2162DFB399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9" b="3399"/>
          <a:stretch>
            <a:fillRect/>
          </a:stretch>
        </p:blipFill>
        <p:spPr>
          <a:xfrm>
            <a:off x="1423998" y="1460594"/>
            <a:ext cx="2235641" cy="29184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F9A2A24-AE92-4AF5-833B-2251575B1722}"/>
              </a:ext>
            </a:extLst>
          </p:cNvPr>
          <p:cNvSpPr txBox="1"/>
          <p:nvPr/>
        </p:nvSpPr>
        <p:spPr>
          <a:xfrm>
            <a:off x="2094976" y="4792966"/>
            <a:ext cx="21587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이정훈</a:t>
            </a:r>
            <a:endParaRPr lang="en-US" altLang="ko-KR" dirty="0">
              <a:latin typeface="나눔명조OTF ExtraBold" panose="02020603020101020101" pitchFamily="18" charset="-127"/>
              <a:ea typeface="나눔명조OTF ExtraBold" panose="02020603020101020101" pitchFamily="18" charset="-127"/>
              <a:cs typeface="Arial" panose="020B0604020202020204" pitchFamily="34" charset="0"/>
            </a:endParaRPr>
          </a:p>
          <a:p>
            <a:pPr algn="r"/>
            <a:endParaRPr lang="en-US" altLang="ko-KR" sz="1300" dirty="0">
              <a:latin typeface="나눔명조OTF ExtraBold" panose="02020603020101020101" pitchFamily="18" charset="-127"/>
              <a:ea typeface="나눔명조OTF ExtraBold" panose="02020603020101020101" pitchFamily="18" charset="-127"/>
              <a:cs typeface="Arial" panose="020B0604020202020204" pitchFamily="34" charset="0"/>
            </a:endParaRPr>
          </a:p>
          <a:p>
            <a:pPr algn="r"/>
            <a:r>
              <a:rPr lang="en-US" altLang="ko-KR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1986. 03. 23</a:t>
            </a:r>
          </a:p>
          <a:p>
            <a:pPr algn="r"/>
            <a:endParaRPr lang="en-US" altLang="ko-KR" sz="1300" dirty="0">
              <a:latin typeface="나눔명조OTF ExtraBold" panose="02020603020101020101" pitchFamily="18" charset="-127"/>
              <a:ea typeface="나눔명조OTF ExtraBold" panose="02020603020101020101" pitchFamily="18" charset="-127"/>
              <a:cs typeface="Arial" panose="020B0604020202020204" pitchFamily="34" charset="0"/>
            </a:endParaRPr>
          </a:p>
          <a:p>
            <a:pPr algn="r"/>
            <a:r>
              <a:rPr lang="en-US" altLang="ko-KR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cybes2@naver.com</a:t>
            </a:r>
            <a:endParaRPr lang="ko-KR" altLang="en-US" dirty="0">
              <a:latin typeface="나눔명조OTF ExtraBold" panose="02020603020101020101" pitchFamily="18" charset="-127"/>
              <a:ea typeface="나눔명조OTF Extra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EEEE30-9204-4AE8-8A4A-2D2A911AB4A2}"/>
              </a:ext>
            </a:extLst>
          </p:cNvPr>
          <p:cNvSpPr txBox="1"/>
          <p:nvPr/>
        </p:nvSpPr>
        <p:spPr>
          <a:xfrm>
            <a:off x="6172889" y="1828999"/>
            <a:ext cx="505158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20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학력</a:t>
            </a:r>
            <a:endParaRPr lang="en-US" altLang="ko-KR" sz="2000" dirty="0">
              <a:latin typeface="나눔명조OTF ExtraBold" panose="02020603020101020101" pitchFamily="18" charset="-127"/>
              <a:ea typeface="나눔명조OTF ExtraBold" panose="02020603020101020101" pitchFamily="18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2005.02 </a:t>
            </a:r>
            <a:r>
              <a:rPr lang="ko-KR" altLang="en-US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군포정보산업고등학교 졸업</a:t>
            </a:r>
            <a:endParaRPr lang="en-US" altLang="ko-KR" sz="1700" dirty="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2011.02 </a:t>
            </a:r>
            <a:r>
              <a:rPr lang="ko-KR" altLang="en-US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수원과학대학교 졸업</a:t>
            </a:r>
            <a:endParaRPr lang="en-US" altLang="ko-KR" sz="1700" dirty="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>
              <a:spcBef>
                <a:spcPts val="600"/>
              </a:spcBef>
            </a:pPr>
            <a:endParaRPr lang="en-US" altLang="ko-KR" dirty="0">
              <a:latin typeface="AmeriGarmnd BT" pitchFamily="2" charset="0"/>
            </a:endParaRPr>
          </a:p>
          <a:p>
            <a:pPr>
              <a:spcBef>
                <a:spcPts val="600"/>
              </a:spcBef>
            </a:pPr>
            <a:r>
              <a:rPr lang="ko-KR" altLang="en-US" sz="20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자격증</a:t>
            </a:r>
            <a:endParaRPr lang="en-US" altLang="ko-KR" sz="2000" dirty="0">
              <a:latin typeface="나눔명조OTF ExtraBold" panose="02020603020101020101" pitchFamily="18" charset="-127"/>
              <a:ea typeface="나눔명조OTF ExtraBold" panose="02020603020101020101" pitchFamily="18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2004.05 </a:t>
            </a:r>
            <a:r>
              <a:rPr lang="ko-KR" altLang="en-US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컴퓨터활용능력 </a:t>
            </a: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3</a:t>
            </a:r>
            <a:r>
              <a:rPr lang="ko-KR" altLang="en-US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급</a:t>
            </a:r>
            <a:endParaRPr lang="en-US" altLang="ko-KR" sz="1700" dirty="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2021.06 CSTS Foundation Level </a:t>
            </a:r>
            <a:r>
              <a:rPr lang="ko-KR" altLang="en-US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취득</a:t>
            </a:r>
            <a:endParaRPr lang="en-US" altLang="ko-KR" sz="1700" dirty="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2021.09 ISTQB CTFL SW </a:t>
            </a:r>
            <a:r>
              <a:rPr lang="ko-KR" altLang="en-US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테스팅</a:t>
            </a: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 </a:t>
            </a:r>
            <a:r>
              <a:rPr lang="ko-KR" altLang="en-US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취득</a:t>
            </a:r>
            <a:endParaRPr lang="en-US" altLang="ko-KR" sz="1700" dirty="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>
              <a:spcBef>
                <a:spcPts val="600"/>
              </a:spcBef>
            </a:pPr>
            <a:endParaRPr lang="en-US" altLang="ko-KR" dirty="0">
              <a:latin typeface="AmeriGarmnd BT" pitchFamily="2" charset="0"/>
            </a:endParaRPr>
          </a:p>
          <a:p>
            <a:pPr>
              <a:spcBef>
                <a:spcPts val="600"/>
              </a:spcBef>
            </a:pPr>
            <a:r>
              <a:rPr lang="ko-KR" altLang="en-US" sz="20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기타</a:t>
            </a:r>
            <a:endParaRPr lang="en-US" altLang="ko-KR" sz="2000" dirty="0">
              <a:latin typeface="나눔명조OTF ExtraBold" panose="02020603020101020101" pitchFamily="18" charset="-127"/>
              <a:ea typeface="나눔명조OTF ExtraBold" panose="02020603020101020101" pitchFamily="18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2012. 10 </a:t>
            </a:r>
            <a:r>
              <a:rPr lang="ko-KR" altLang="en-US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중앙정보처리학원 교육이수 </a:t>
            </a: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(4</a:t>
            </a:r>
            <a:r>
              <a:rPr lang="ko-KR" altLang="en-US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개월</a:t>
            </a: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(java, C++ </a:t>
            </a:r>
            <a:r>
              <a:rPr lang="ko-KR" altLang="en-US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등 소프트웨어 프로그램 훈련</a:t>
            </a:r>
            <a:r>
              <a:rPr lang="en-US" altLang="ko-KR" sz="17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FF2162-B2FD-471E-A16D-BDF8846A6103}"/>
              </a:ext>
            </a:extLst>
          </p:cNvPr>
          <p:cNvSpPr txBox="1"/>
          <p:nvPr/>
        </p:nvSpPr>
        <p:spPr>
          <a:xfrm>
            <a:off x="401798" y="4792966"/>
            <a:ext cx="20802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이름</a:t>
            </a:r>
            <a:endParaRPr lang="en-US" altLang="ko-KR" dirty="0">
              <a:latin typeface="나눔명조OTF ExtraBold" panose="02020603020101020101" pitchFamily="18" charset="-127"/>
              <a:ea typeface="나눔명조OTF ExtraBold" panose="02020603020101020101" pitchFamily="18" charset="-127"/>
              <a:cs typeface="Arial" panose="020B0604020202020204" pitchFamily="34" charset="0"/>
            </a:endParaRPr>
          </a:p>
          <a:p>
            <a:pPr algn="ctr"/>
            <a:endParaRPr lang="en-US" altLang="ko-KR" sz="1300" dirty="0">
              <a:latin typeface="나눔명조OTF ExtraBold" panose="02020603020101020101" pitchFamily="18" charset="-127"/>
              <a:ea typeface="나눔명조OTF ExtraBold" panose="02020603020101020101" pitchFamily="18" charset="-127"/>
              <a:cs typeface="Arial" panose="020B0604020202020204" pitchFamily="34" charset="0"/>
            </a:endParaRPr>
          </a:p>
          <a:p>
            <a:pPr algn="ctr"/>
            <a:r>
              <a:rPr lang="ko-KR" altLang="en-US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생년월일</a:t>
            </a:r>
            <a:endParaRPr lang="en-US" altLang="ko-KR" dirty="0">
              <a:latin typeface="나눔명조OTF ExtraBold" panose="02020603020101020101" pitchFamily="18" charset="-127"/>
              <a:ea typeface="나눔명조OTF ExtraBold" panose="02020603020101020101" pitchFamily="18" charset="-127"/>
              <a:cs typeface="Arial" panose="020B0604020202020204" pitchFamily="34" charset="0"/>
            </a:endParaRPr>
          </a:p>
          <a:p>
            <a:pPr algn="ctr"/>
            <a:endParaRPr lang="en-US" altLang="ko-KR" sz="1300" dirty="0">
              <a:latin typeface="나눔명조OTF ExtraBold" panose="02020603020101020101" pitchFamily="18" charset="-127"/>
              <a:ea typeface="나눔명조OTF ExtraBold" panose="02020603020101020101" pitchFamily="18" charset="-127"/>
              <a:cs typeface="Arial" panose="020B0604020202020204" pitchFamily="34" charset="0"/>
            </a:endParaRPr>
          </a:p>
          <a:p>
            <a:pPr algn="ctr"/>
            <a:r>
              <a:rPr lang="ko-KR" altLang="en-US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이메일</a:t>
            </a:r>
          </a:p>
        </p:txBody>
      </p:sp>
    </p:spTree>
    <p:extLst>
      <p:ext uri="{BB962C8B-B14F-4D97-AF65-F5344CB8AC3E}">
        <p14:creationId xmlns:p14="http://schemas.microsoft.com/office/powerpoint/2010/main" val="3906155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2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담당 프로젝트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C4169A-3920-4C15-AAD9-CA504F3BC733}"/>
              </a:ext>
            </a:extLst>
          </p:cNvPr>
          <p:cNvSpPr txBox="1"/>
          <p:nvPr/>
        </p:nvSpPr>
        <p:spPr>
          <a:xfrm>
            <a:off x="504000" y="1836000"/>
            <a:ext cx="5059531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Introduction</a:t>
            </a:r>
            <a:r>
              <a:rPr lang="en-US" altLang="ko-KR" sz="15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Calibri" panose="020F0502020204030204" pitchFamily="34" charset="0"/>
              </a:rPr>
              <a:t>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Calibri" panose="020F0502020204030204" pitchFamily="34" charset="0"/>
              </a:rPr>
              <a:t>-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Calibri" panose="020F0502020204030204" pitchFamily="34" charset="0"/>
              </a:rPr>
              <a:t>서버에서 내리는 정책에 따라 사용자 단말기의 호 제어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3F81367-BC21-4422-A15E-134D46381F15}"/>
              </a:ext>
            </a:extLst>
          </p:cNvPr>
          <p:cNvGrpSpPr/>
          <p:nvPr/>
        </p:nvGrpSpPr>
        <p:grpSpPr>
          <a:xfrm>
            <a:off x="7734650" y="2448175"/>
            <a:ext cx="3755409" cy="2752837"/>
            <a:chOff x="11627767" y="2013676"/>
            <a:chExt cx="5538135" cy="4031824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25620399-8E39-4EAA-85BB-39548765659E}"/>
                </a:ext>
              </a:extLst>
            </p:cNvPr>
            <p:cNvGrpSpPr/>
            <p:nvPr/>
          </p:nvGrpSpPr>
          <p:grpSpPr>
            <a:xfrm>
              <a:off x="11627767" y="2013676"/>
              <a:ext cx="5538135" cy="4031824"/>
              <a:chOff x="6307622" y="1729283"/>
              <a:chExt cx="5538135" cy="4031824"/>
            </a:xfrm>
          </p:grpSpPr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C6FDF200-F47B-473F-901D-E8065453EF57}"/>
                  </a:ext>
                </a:extLst>
              </p:cNvPr>
              <p:cNvSpPr/>
              <p:nvPr/>
            </p:nvSpPr>
            <p:spPr>
              <a:xfrm>
                <a:off x="8032578" y="1729283"/>
                <a:ext cx="2088222" cy="1044111"/>
              </a:xfrm>
              <a:custGeom>
                <a:avLst/>
                <a:gdLst>
                  <a:gd name="connsiteX0" fmla="*/ 0 w 2088222"/>
                  <a:gd name="connsiteY0" fmla="*/ 104411 h 1044111"/>
                  <a:gd name="connsiteX1" fmla="*/ 104411 w 2088222"/>
                  <a:gd name="connsiteY1" fmla="*/ 0 h 1044111"/>
                  <a:gd name="connsiteX2" fmla="*/ 1983811 w 2088222"/>
                  <a:gd name="connsiteY2" fmla="*/ 0 h 1044111"/>
                  <a:gd name="connsiteX3" fmla="*/ 2088222 w 2088222"/>
                  <a:gd name="connsiteY3" fmla="*/ 104411 h 1044111"/>
                  <a:gd name="connsiteX4" fmla="*/ 2088222 w 2088222"/>
                  <a:gd name="connsiteY4" fmla="*/ 939700 h 1044111"/>
                  <a:gd name="connsiteX5" fmla="*/ 1983811 w 2088222"/>
                  <a:gd name="connsiteY5" fmla="*/ 1044111 h 1044111"/>
                  <a:gd name="connsiteX6" fmla="*/ 104411 w 2088222"/>
                  <a:gd name="connsiteY6" fmla="*/ 1044111 h 1044111"/>
                  <a:gd name="connsiteX7" fmla="*/ 0 w 2088222"/>
                  <a:gd name="connsiteY7" fmla="*/ 939700 h 1044111"/>
                  <a:gd name="connsiteX8" fmla="*/ 0 w 2088222"/>
                  <a:gd name="connsiteY8" fmla="*/ 104411 h 1044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88222" h="1044111">
                    <a:moveTo>
                      <a:pt x="0" y="104411"/>
                    </a:moveTo>
                    <a:cubicBezTo>
                      <a:pt x="0" y="46746"/>
                      <a:pt x="46746" y="0"/>
                      <a:pt x="104411" y="0"/>
                    </a:cubicBezTo>
                    <a:lnTo>
                      <a:pt x="1983811" y="0"/>
                    </a:lnTo>
                    <a:cubicBezTo>
                      <a:pt x="2041476" y="0"/>
                      <a:pt x="2088222" y="46746"/>
                      <a:pt x="2088222" y="104411"/>
                    </a:cubicBezTo>
                    <a:lnTo>
                      <a:pt x="2088222" y="939700"/>
                    </a:lnTo>
                    <a:cubicBezTo>
                      <a:pt x="2088222" y="997365"/>
                      <a:pt x="2041476" y="1044111"/>
                      <a:pt x="1983811" y="1044111"/>
                    </a:cubicBezTo>
                    <a:lnTo>
                      <a:pt x="104411" y="1044111"/>
                    </a:lnTo>
                    <a:cubicBezTo>
                      <a:pt x="46746" y="1044111"/>
                      <a:pt x="0" y="997365"/>
                      <a:pt x="0" y="939700"/>
                    </a:cubicBezTo>
                    <a:lnTo>
                      <a:pt x="0" y="104411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94411" tIns="194411" rIns="194411" bIns="194411" numCol="1" spcCol="1270" anchor="ctr" anchorCtr="0">
                <a:noAutofit/>
              </a:bodyPr>
              <a:lstStyle/>
              <a:p>
                <a:pPr marL="0" lvl="0" indent="0" algn="ctr" defTabSz="19113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ko-KR" altLang="en-US" kern="1200" dirty="0">
                    <a:latin typeface="나눔명조OTF" panose="02020603020101020101" pitchFamily="18" charset="-127"/>
                    <a:ea typeface="나눔명조OTF" panose="02020603020101020101" pitchFamily="18" charset="-127"/>
                  </a:rPr>
                  <a:t>통신사</a:t>
                </a:r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4AC4BEE5-EB78-4339-8956-6638ED2A3520}"/>
                  </a:ext>
                </a:extLst>
              </p:cNvPr>
              <p:cNvSpPr/>
              <p:nvPr/>
            </p:nvSpPr>
            <p:spPr>
              <a:xfrm>
                <a:off x="9757535" y="4716996"/>
                <a:ext cx="2088222" cy="1044111"/>
              </a:xfrm>
              <a:custGeom>
                <a:avLst/>
                <a:gdLst>
                  <a:gd name="connsiteX0" fmla="*/ 0 w 2088222"/>
                  <a:gd name="connsiteY0" fmla="*/ 104411 h 1044111"/>
                  <a:gd name="connsiteX1" fmla="*/ 104411 w 2088222"/>
                  <a:gd name="connsiteY1" fmla="*/ 0 h 1044111"/>
                  <a:gd name="connsiteX2" fmla="*/ 1983811 w 2088222"/>
                  <a:gd name="connsiteY2" fmla="*/ 0 h 1044111"/>
                  <a:gd name="connsiteX3" fmla="*/ 2088222 w 2088222"/>
                  <a:gd name="connsiteY3" fmla="*/ 104411 h 1044111"/>
                  <a:gd name="connsiteX4" fmla="*/ 2088222 w 2088222"/>
                  <a:gd name="connsiteY4" fmla="*/ 939700 h 1044111"/>
                  <a:gd name="connsiteX5" fmla="*/ 1983811 w 2088222"/>
                  <a:gd name="connsiteY5" fmla="*/ 1044111 h 1044111"/>
                  <a:gd name="connsiteX6" fmla="*/ 104411 w 2088222"/>
                  <a:gd name="connsiteY6" fmla="*/ 1044111 h 1044111"/>
                  <a:gd name="connsiteX7" fmla="*/ 0 w 2088222"/>
                  <a:gd name="connsiteY7" fmla="*/ 939700 h 1044111"/>
                  <a:gd name="connsiteX8" fmla="*/ 0 w 2088222"/>
                  <a:gd name="connsiteY8" fmla="*/ 104411 h 1044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88222" h="1044111">
                    <a:moveTo>
                      <a:pt x="0" y="104411"/>
                    </a:moveTo>
                    <a:cubicBezTo>
                      <a:pt x="0" y="46746"/>
                      <a:pt x="46746" y="0"/>
                      <a:pt x="104411" y="0"/>
                    </a:cubicBezTo>
                    <a:lnTo>
                      <a:pt x="1983811" y="0"/>
                    </a:lnTo>
                    <a:cubicBezTo>
                      <a:pt x="2041476" y="0"/>
                      <a:pt x="2088222" y="46746"/>
                      <a:pt x="2088222" y="104411"/>
                    </a:cubicBezTo>
                    <a:lnTo>
                      <a:pt x="2088222" y="939700"/>
                    </a:lnTo>
                    <a:cubicBezTo>
                      <a:pt x="2088222" y="997365"/>
                      <a:pt x="2041476" y="1044111"/>
                      <a:pt x="1983811" y="1044111"/>
                    </a:cubicBezTo>
                    <a:lnTo>
                      <a:pt x="104411" y="1044111"/>
                    </a:lnTo>
                    <a:cubicBezTo>
                      <a:pt x="46746" y="1044111"/>
                      <a:pt x="0" y="997365"/>
                      <a:pt x="0" y="939700"/>
                    </a:cubicBezTo>
                    <a:lnTo>
                      <a:pt x="0" y="104411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94411" tIns="194411" rIns="194411" bIns="194411" numCol="1" spcCol="1270" anchor="ctr" anchorCtr="0">
                <a:noAutofit/>
              </a:bodyPr>
              <a:lstStyle/>
              <a:p>
                <a:pPr marL="0" lvl="0" indent="0" algn="ctr" defTabSz="19113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ko-KR" altLang="en-US" dirty="0">
                    <a:latin typeface="나눔명조OTF" panose="02020603020101020101" pitchFamily="18" charset="-127"/>
                    <a:ea typeface="나눔명조OTF" panose="02020603020101020101" pitchFamily="18" charset="-127"/>
                  </a:rPr>
                  <a:t>단말기</a:t>
                </a:r>
                <a:endParaRPr lang="ko-KR" altLang="en-US" kern="1200" dirty="0">
                  <a:latin typeface="나눔명조OTF" panose="02020603020101020101" pitchFamily="18" charset="-127"/>
                  <a:ea typeface="나눔명조OTF" panose="02020603020101020101" pitchFamily="18" charset="-127"/>
                </a:endParaRPr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AE352C25-0A30-4115-B129-9B1C116D4D23}"/>
                  </a:ext>
                </a:extLst>
              </p:cNvPr>
              <p:cNvSpPr/>
              <p:nvPr/>
            </p:nvSpPr>
            <p:spPr>
              <a:xfrm>
                <a:off x="6307622" y="4716996"/>
                <a:ext cx="2088222" cy="1044111"/>
              </a:xfrm>
              <a:custGeom>
                <a:avLst/>
                <a:gdLst>
                  <a:gd name="connsiteX0" fmla="*/ 0 w 2088222"/>
                  <a:gd name="connsiteY0" fmla="*/ 104411 h 1044111"/>
                  <a:gd name="connsiteX1" fmla="*/ 104411 w 2088222"/>
                  <a:gd name="connsiteY1" fmla="*/ 0 h 1044111"/>
                  <a:gd name="connsiteX2" fmla="*/ 1983811 w 2088222"/>
                  <a:gd name="connsiteY2" fmla="*/ 0 h 1044111"/>
                  <a:gd name="connsiteX3" fmla="*/ 2088222 w 2088222"/>
                  <a:gd name="connsiteY3" fmla="*/ 104411 h 1044111"/>
                  <a:gd name="connsiteX4" fmla="*/ 2088222 w 2088222"/>
                  <a:gd name="connsiteY4" fmla="*/ 939700 h 1044111"/>
                  <a:gd name="connsiteX5" fmla="*/ 1983811 w 2088222"/>
                  <a:gd name="connsiteY5" fmla="*/ 1044111 h 1044111"/>
                  <a:gd name="connsiteX6" fmla="*/ 104411 w 2088222"/>
                  <a:gd name="connsiteY6" fmla="*/ 1044111 h 1044111"/>
                  <a:gd name="connsiteX7" fmla="*/ 0 w 2088222"/>
                  <a:gd name="connsiteY7" fmla="*/ 939700 h 1044111"/>
                  <a:gd name="connsiteX8" fmla="*/ 0 w 2088222"/>
                  <a:gd name="connsiteY8" fmla="*/ 104411 h 1044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88222" h="1044111">
                    <a:moveTo>
                      <a:pt x="0" y="104411"/>
                    </a:moveTo>
                    <a:cubicBezTo>
                      <a:pt x="0" y="46746"/>
                      <a:pt x="46746" y="0"/>
                      <a:pt x="104411" y="0"/>
                    </a:cubicBezTo>
                    <a:lnTo>
                      <a:pt x="1983811" y="0"/>
                    </a:lnTo>
                    <a:cubicBezTo>
                      <a:pt x="2041476" y="0"/>
                      <a:pt x="2088222" y="46746"/>
                      <a:pt x="2088222" y="104411"/>
                    </a:cubicBezTo>
                    <a:lnTo>
                      <a:pt x="2088222" y="939700"/>
                    </a:lnTo>
                    <a:cubicBezTo>
                      <a:pt x="2088222" y="997365"/>
                      <a:pt x="2041476" y="1044111"/>
                      <a:pt x="1983811" y="1044111"/>
                    </a:cubicBezTo>
                    <a:lnTo>
                      <a:pt x="104411" y="1044111"/>
                    </a:lnTo>
                    <a:cubicBezTo>
                      <a:pt x="46746" y="1044111"/>
                      <a:pt x="0" y="997365"/>
                      <a:pt x="0" y="939700"/>
                    </a:cubicBezTo>
                    <a:lnTo>
                      <a:pt x="0" y="104411"/>
                    </a:ln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94411" tIns="194411" rIns="194411" bIns="194411" numCol="1" spcCol="1270" anchor="ctr" anchorCtr="0">
                <a:noAutofit/>
              </a:bodyPr>
              <a:lstStyle/>
              <a:p>
                <a:pPr marL="0" lvl="0" indent="0" algn="ctr" defTabSz="19113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ko-KR" altLang="en-US" kern="1200" dirty="0">
                    <a:latin typeface="나눔명조OTF" panose="02020603020101020101" pitchFamily="18" charset="-127"/>
                    <a:ea typeface="나눔명조OTF" panose="02020603020101020101" pitchFamily="18" charset="-127"/>
                  </a:rPr>
                  <a:t>서버</a:t>
                </a:r>
              </a:p>
            </p:txBody>
          </p:sp>
        </p:grpSp>
        <p:sp>
          <p:nvSpPr>
            <p:cNvPr id="17" name="화살표: 아래쪽 16">
              <a:extLst>
                <a:ext uri="{FF2B5EF4-FFF2-40B4-BE49-F238E27FC236}">
                  <a16:creationId xmlns:a16="http://schemas.microsoft.com/office/drawing/2014/main" id="{06A73BD7-DE9E-417C-A215-EFDD096D4E88}"/>
                </a:ext>
              </a:extLst>
            </p:cNvPr>
            <p:cNvSpPr/>
            <p:nvPr/>
          </p:nvSpPr>
          <p:spPr>
            <a:xfrm rot="1800000">
              <a:off x="12940265" y="3493467"/>
              <a:ext cx="406821" cy="975785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명조OTF" panose="02020603020101020101" pitchFamily="18" charset="-127"/>
                <a:ea typeface="나눔명조OTF" panose="02020603020101020101" pitchFamily="18" charset="-127"/>
              </a:endParaRPr>
            </a:p>
          </p:txBody>
        </p:sp>
        <p:sp>
          <p:nvSpPr>
            <p:cNvPr id="18" name="화살표: 아래쪽 17">
              <a:extLst>
                <a:ext uri="{FF2B5EF4-FFF2-40B4-BE49-F238E27FC236}">
                  <a16:creationId xmlns:a16="http://schemas.microsoft.com/office/drawing/2014/main" id="{4B38704C-8AFC-4B26-98A6-2BF12D7DC802}"/>
                </a:ext>
              </a:extLst>
            </p:cNvPr>
            <p:cNvSpPr/>
            <p:nvPr/>
          </p:nvSpPr>
          <p:spPr>
            <a:xfrm rot="9000000">
              <a:off x="15352323" y="3507086"/>
              <a:ext cx="406821" cy="975785"/>
            </a:xfrm>
            <a:prstGeom prst="down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명조OTF" panose="02020603020101020101" pitchFamily="18" charset="-127"/>
                <a:ea typeface="나눔명조OTF" panose="02020603020101020101" pitchFamily="18" charset="-127"/>
              </a:endParaRPr>
            </a:p>
          </p:txBody>
        </p:sp>
        <p:sp>
          <p:nvSpPr>
            <p:cNvPr id="19" name="화살표: 아래쪽 18">
              <a:extLst>
                <a:ext uri="{FF2B5EF4-FFF2-40B4-BE49-F238E27FC236}">
                  <a16:creationId xmlns:a16="http://schemas.microsoft.com/office/drawing/2014/main" id="{BC8EA1B2-C4F0-413F-BD2D-DDE142F6D830}"/>
                </a:ext>
              </a:extLst>
            </p:cNvPr>
            <p:cNvSpPr/>
            <p:nvPr/>
          </p:nvSpPr>
          <p:spPr>
            <a:xfrm rot="16200000">
              <a:off x="14201812" y="5010522"/>
              <a:ext cx="406821" cy="975785"/>
            </a:xfrm>
            <a:prstGeom prst="down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명조OTF" panose="02020603020101020101" pitchFamily="18" charset="-127"/>
                <a:ea typeface="나눔명조OTF" panose="02020603020101020101" pitchFamily="18" charset="-127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4F9B807-1C1E-4FAE-9221-FCE6E9A0DB55}"/>
              </a:ext>
            </a:extLst>
          </p:cNvPr>
          <p:cNvSpPr txBox="1"/>
          <p:nvPr/>
        </p:nvSpPr>
        <p:spPr>
          <a:xfrm>
            <a:off x="360000" y="1188000"/>
            <a:ext cx="3905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APRA(</a:t>
            </a:r>
            <a:r>
              <a:rPr lang="ko-KR" altLang="en-US" sz="2000" b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백그라운드 데이터 최적화</a:t>
            </a:r>
            <a:r>
              <a:rPr lang="en-US" altLang="ko-KR" sz="2000" b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)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E8EB78-81DC-4DED-9AE4-AA4F5DE8DDB8}"/>
              </a:ext>
            </a:extLst>
          </p:cNvPr>
          <p:cNvSpPr txBox="1"/>
          <p:nvPr/>
        </p:nvSpPr>
        <p:spPr>
          <a:xfrm>
            <a:off x="515434" y="2638909"/>
            <a:ext cx="505953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  <a:cs typeface="Arial Unicode MS" panose="020B0604020202020204" pitchFamily="50" charset="-127"/>
              </a:rPr>
              <a:t>Testing Strategies</a:t>
            </a:r>
            <a:endParaRPr lang="ko-KR" altLang="en-US" sz="1700" dirty="0">
              <a:latin typeface="나눔명조 ExtraBold" panose="02020603020101020101" pitchFamily="18" charset="-127"/>
              <a:ea typeface="나눔명조 ExtraBold" panose="02020603020101020101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F88EE4B-1EE0-469A-9513-529F737B98BB}"/>
              </a:ext>
            </a:extLst>
          </p:cNvPr>
          <p:cNvSpPr/>
          <p:nvPr/>
        </p:nvSpPr>
        <p:spPr>
          <a:xfrm>
            <a:off x="4749084" y="3741437"/>
            <a:ext cx="2323520" cy="251447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PM</a:t>
            </a:r>
            <a:r>
              <a:rPr lang="ko-KR" altLang="en-US" sz="1600" b="1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에게 해결 요청</a:t>
            </a:r>
            <a:endParaRPr lang="en-US" altLang="ko-KR" sz="1600" b="1" dirty="0">
              <a:solidFill>
                <a:schemeClr val="tx1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 algn="ctr"/>
            <a:endParaRPr lang="ko-KR" altLang="en-US" sz="1600" b="1" dirty="0">
              <a:solidFill>
                <a:schemeClr val="tx1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OR</a:t>
            </a:r>
          </a:p>
          <a:p>
            <a:pPr algn="ctr"/>
            <a:endParaRPr lang="en-US" altLang="ko-KR" sz="1600" b="1" dirty="0">
              <a:solidFill>
                <a:schemeClr val="tx1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검증결과 보고서 작성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49C35BB-4F27-4C65-A244-7ECA46B2FE2D}"/>
              </a:ext>
            </a:extLst>
          </p:cNvPr>
          <p:cNvSpPr/>
          <p:nvPr/>
        </p:nvSpPr>
        <p:spPr>
          <a:xfrm>
            <a:off x="796891" y="3197910"/>
            <a:ext cx="1032452" cy="53231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Issue</a:t>
            </a:r>
            <a:r>
              <a:rPr lang="ko-KR" altLang="en-US" sz="1400" b="1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 발견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D85BEF6-4C33-43C6-A6B0-816489AE7A62}"/>
              </a:ext>
            </a:extLst>
          </p:cNvPr>
          <p:cNvSpPr/>
          <p:nvPr/>
        </p:nvSpPr>
        <p:spPr>
          <a:xfrm>
            <a:off x="796891" y="4119316"/>
            <a:ext cx="1032452" cy="53231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분석</a:t>
            </a:r>
          </a:p>
        </p:txBody>
      </p: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0A4EBC6B-6B0D-4A9A-BDC7-F2554807BEB8}"/>
              </a:ext>
            </a:extLst>
          </p:cNvPr>
          <p:cNvSpPr/>
          <p:nvPr/>
        </p:nvSpPr>
        <p:spPr>
          <a:xfrm>
            <a:off x="1144417" y="3850406"/>
            <a:ext cx="337399" cy="180380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667C3-7226-49E1-AE4E-478EF49FF5DF}"/>
              </a:ext>
            </a:extLst>
          </p:cNvPr>
          <p:cNvSpPr/>
          <p:nvPr/>
        </p:nvSpPr>
        <p:spPr>
          <a:xfrm>
            <a:off x="796891" y="5072379"/>
            <a:ext cx="1032452" cy="53231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Issue</a:t>
            </a:r>
            <a:r>
              <a:rPr lang="ko-KR" altLang="en-US" sz="1400" b="1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 문의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554BED8-2CE7-4D36-92C6-CA023D4555D1}"/>
              </a:ext>
            </a:extLst>
          </p:cNvPr>
          <p:cNvSpPr/>
          <p:nvPr/>
        </p:nvSpPr>
        <p:spPr>
          <a:xfrm>
            <a:off x="796891" y="5993785"/>
            <a:ext cx="1032452" cy="53231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Issue </a:t>
            </a:r>
            <a:r>
              <a:rPr lang="ko-KR" altLang="en-US" sz="1400" b="1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취합</a:t>
            </a:r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AE691AF0-FA88-405A-A9E4-503F29216BD4}"/>
              </a:ext>
            </a:extLst>
          </p:cNvPr>
          <p:cNvSpPr/>
          <p:nvPr/>
        </p:nvSpPr>
        <p:spPr>
          <a:xfrm>
            <a:off x="1144417" y="5724875"/>
            <a:ext cx="337399" cy="180380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33" name="화살표: 아래쪽 32">
            <a:extLst>
              <a:ext uri="{FF2B5EF4-FFF2-40B4-BE49-F238E27FC236}">
                <a16:creationId xmlns:a16="http://schemas.microsoft.com/office/drawing/2014/main" id="{168077E3-A68B-40A4-A3B8-60561B400CFF}"/>
              </a:ext>
            </a:extLst>
          </p:cNvPr>
          <p:cNvSpPr/>
          <p:nvPr/>
        </p:nvSpPr>
        <p:spPr>
          <a:xfrm>
            <a:off x="1144417" y="4771812"/>
            <a:ext cx="337399" cy="180380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CB0FD4-A7BC-4B66-8F99-9470A2E8B72F}"/>
              </a:ext>
            </a:extLst>
          </p:cNvPr>
          <p:cNvSpPr txBox="1"/>
          <p:nvPr/>
        </p:nvSpPr>
        <p:spPr>
          <a:xfrm>
            <a:off x="1481816" y="4698768"/>
            <a:ext cx="1904795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Log </a:t>
            </a:r>
            <a:r>
              <a:rPr lang="ko-KR" altLang="en-US" sz="14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분석 및 내용 전달</a:t>
            </a: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5C5D920C-D27B-4045-B833-9AE0725B3D55}"/>
              </a:ext>
            </a:extLst>
          </p:cNvPr>
          <p:cNvSpPr/>
          <p:nvPr/>
        </p:nvSpPr>
        <p:spPr>
          <a:xfrm rot="20321234">
            <a:off x="2060610" y="5434057"/>
            <a:ext cx="2515885" cy="489228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4386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2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담당 프로젝트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443C4E-7DD7-446E-9C80-7D5C01F791DD}"/>
              </a:ext>
            </a:extLst>
          </p:cNvPr>
          <p:cNvSpPr txBox="1"/>
          <p:nvPr/>
        </p:nvSpPr>
        <p:spPr>
          <a:xfrm>
            <a:off x="504000" y="2022615"/>
            <a:ext cx="10229405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  <a:cs typeface="Arial Unicode MS" panose="020B0604020202020204" pitchFamily="50" charset="-127"/>
              </a:rPr>
              <a:t>APRA </a:t>
            </a:r>
            <a:r>
              <a:rPr lang="ko-KR" altLang="en-US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  <a:cs typeface="Arial Unicode MS" panose="020B0604020202020204" pitchFamily="50" charset="-127"/>
              </a:rPr>
              <a:t>문제점</a:t>
            </a:r>
            <a:endParaRPr lang="en-US" altLang="ko-KR" sz="1700" dirty="0">
              <a:latin typeface="나눔명조 ExtraBold" panose="02020603020101020101" pitchFamily="18" charset="-127"/>
              <a:ea typeface="나눔명조 ExtraBold" panose="02020603020101020101" pitchFamily="18" charset="-127"/>
              <a:cs typeface="Arial Unicode MS" panose="020B0604020202020204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비교적 복잡한 검증 절차 및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절차서 이외의 지식 필요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담당자의 급작스런 부재 및 업무에 필요한 지식이 부족할 시 업무파악에 많은 애로사항을 겪음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   →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해당 프로젝트에 관련 된 자료를 정독 및 분석 하고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유관부서 협조를 통한 업무 파악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(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많은 시간  소요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)</a:t>
            </a:r>
          </a:p>
          <a:p>
            <a:pPr>
              <a:spcBef>
                <a:spcPts val="600"/>
              </a:spcBef>
            </a:pPr>
            <a:endParaRPr lang="en-US" altLang="ko-KR" sz="1200" dirty="0"/>
          </a:p>
          <a:p>
            <a:pPr>
              <a:spcBef>
                <a:spcPts val="600"/>
              </a:spcBef>
            </a:pPr>
            <a:endParaRPr lang="en-US" altLang="ko-KR" sz="1200" dirty="0"/>
          </a:p>
          <a:p>
            <a:pPr>
              <a:spcBef>
                <a:spcPts val="600"/>
              </a:spcBef>
            </a:pPr>
            <a:endParaRPr lang="en-US" altLang="ko-KR" sz="1200" dirty="0"/>
          </a:p>
          <a:p>
            <a:pPr>
              <a:spcBef>
                <a:spcPts val="600"/>
              </a:spcBef>
            </a:pPr>
            <a:r>
              <a:rPr lang="ko-KR" altLang="en-US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  <a:cs typeface="Arial Unicode MS" panose="020B0604020202020204" pitchFamily="50" charset="-127"/>
              </a:rPr>
              <a:t>문제점 해결</a:t>
            </a:r>
            <a:endParaRPr lang="en-US" altLang="ko-KR" sz="1700" dirty="0">
              <a:latin typeface="나눔명조 ExtraBold" panose="02020603020101020101" pitchFamily="18" charset="-127"/>
              <a:ea typeface="나눔명조 ExtraBold" panose="02020603020101020101" pitchFamily="18" charset="-127"/>
              <a:cs typeface="Arial Unicode MS" panose="020B0604020202020204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Test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에 필요한 기본 지식 및 운용 방법 작성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  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→ 검증에 필요한 기본 지식 및 운용 방법 소개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   →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검증 절차 및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TIP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작성 및 공유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   →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각 절차 별 스크린 캡쳐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   →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ADB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를 이용한 명령어 정리 및 문제 발생 시 해결방안 기재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F845BB-5B4C-40AB-A6F8-0AA9E08C7ED3}"/>
              </a:ext>
            </a:extLst>
          </p:cNvPr>
          <p:cNvSpPr txBox="1"/>
          <p:nvPr/>
        </p:nvSpPr>
        <p:spPr>
          <a:xfrm>
            <a:off x="360000" y="1188000"/>
            <a:ext cx="4090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APRA(</a:t>
            </a:r>
            <a:r>
              <a:rPr lang="ko-KR" altLang="en-US" sz="2000" b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백그라운드 데이터 최적화</a:t>
            </a:r>
            <a:r>
              <a:rPr lang="en-US" altLang="ko-KR" sz="2000" b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552582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2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담당 프로젝트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FE8790-0FB9-4072-9DE3-42AF575771CA}"/>
              </a:ext>
            </a:extLst>
          </p:cNvPr>
          <p:cNvSpPr txBox="1"/>
          <p:nvPr/>
        </p:nvSpPr>
        <p:spPr>
          <a:xfrm>
            <a:off x="360000" y="1188000"/>
            <a:ext cx="5065984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 Unicode MS" panose="020B0604020202020204" pitchFamily="50" charset="-127"/>
              </a:rPr>
              <a:t>T</a:t>
            </a:r>
            <a:r>
              <a:rPr lang="ko-KR" altLang="en-US" sz="2000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en-US" altLang="ko-KR" sz="2000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 Unicode MS" panose="020B0604020202020204" pitchFamily="50" charset="-127"/>
              </a:rPr>
              <a:t>action (</a:t>
            </a:r>
            <a:r>
              <a:rPr lang="ko-KR" altLang="ko-KR" sz="2000" kern="100" dirty="0"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 Unicode MS" panose="020B0604020202020204" pitchFamily="50" charset="-127"/>
              </a:rPr>
              <a:t>센서 기반 단말 차별화 서비스 개발</a:t>
            </a:r>
            <a:r>
              <a:rPr lang="en-US" altLang="ko-KR" sz="2000" kern="100" dirty="0"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 Unicode MS" panose="020B0604020202020204" pitchFamily="50" charset="-127"/>
              </a:rPr>
              <a:t>)</a:t>
            </a:r>
            <a:endParaRPr lang="en-US" altLang="ko-KR" sz="2000" dirty="0">
              <a:latin typeface="나눔명조OTF ExtraBold" panose="02020603020101020101" pitchFamily="18" charset="-127"/>
              <a:ea typeface="나눔명조OTF ExtraBold" panose="02020603020101020101" pitchFamily="18" charset="-127"/>
              <a:cs typeface="Arial Unicode MS" panose="020B06040202020202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5F1AB09-42D5-4A2E-A6EE-150C9337F0A3}"/>
              </a:ext>
            </a:extLst>
          </p:cNvPr>
          <p:cNvGrpSpPr/>
          <p:nvPr/>
        </p:nvGrpSpPr>
        <p:grpSpPr>
          <a:xfrm>
            <a:off x="7903028" y="1957406"/>
            <a:ext cx="2734878" cy="3559398"/>
            <a:chOff x="8231967" y="2380413"/>
            <a:chExt cx="6905510" cy="8844742"/>
          </a:xfrm>
        </p:grpSpPr>
        <p:pic>
          <p:nvPicPr>
            <p:cNvPr id="24" name="그래픽 23" descr="스마트폰">
              <a:extLst>
                <a:ext uri="{FF2B5EF4-FFF2-40B4-BE49-F238E27FC236}">
                  <a16:creationId xmlns:a16="http://schemas.microsoft.com/office/drawing/2014/main" id="{BF254A13-F80C-4A06-A4ED-12DD53441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31967" y="3405245"/>
              <a:ext cx="6905510" cy="6905510"/>
            </a:xfrm>
            <a:prstGeom prst="rect">
              <a:avLst/>
            </a:prstGeom>
          </p:spPr>
        </p:pic>
        <p:pic>
          <p:nvPicPr>
            <p:cNvPr id="25" name="그래픽 24" descr="오른쪽으로 도는 줄 화살표">
              <a:extLst>
                <a:ext uri="{FF2B5EF4-FFF2-40B4-BE49-F238E27FC236}">
                  <a16:creationId xmlns:a16="http://schemas.microsoft.com/office/drawing/2014/main" id="{FB2E5004-4754-438B-8E9D-3ECD6FB9D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27522" y="2380413"/>
              <a:ext cx="914400" cy="914400"/>
            </a:xfrm>
            <a:prstGeom prst="rect">
              <a:avLst/>
            </a:prstGeom>
          </p:spPr>
        </p:pic>
        <p:pic>
          <p:nvPicPr>
            <p:cNvPr id="26" name="그래픽 25" descr="오른쪽으로 도는 줄 화살표">
              <a:extLst>
                <a:ext uri="{FF2B5EF4-FFF2-40B4-BE49-F238E27FC236}">
                  <a16:creationId xmlns:a16="http://schemas.microsoft.com/office/drawing/2014/main" id="{D38E88AD-FB49-444C-8817-3CE5D1517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0800000">
              <a:off x="11111144" y="10310755"/>
              <a:ext cx="914400" cy="91440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7AB2D00-0EF6-4941-9302-5F5F37981B15}"/>
              </a:ext>
            </a:extLst>
          </p:cNvPr>
          <p:cNvSpPr txBox="1"/>
          <p:nvPr/>
        </p:nvSpPr>
        <p:spPr>
          <a:xfrm>
            <a:off x="10792705" y="3454400"/>
            <a:ext cx="1038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Action</a:t>
            </a:r>
            <a:r>
              <a:rPr lang="en-US" altLang="ko-KR" sz="14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!!!</a:t>
            </a:r>
            <a:endParaRPr lang="ko-KR" altLang="en-US" sz="1400" dirty="0">
              <a:latin typeface="나눔명조OTF ExtraBold" panose="02020603020101020101" pitchFamily="18" charset="-127"/>
              <a:ea typeface="나눔명조OTF Extra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F65298-691D-4D2E-A8AD-99805A73184F}"/>
              </a:ext>
            </a:extLst>
          </p:cNvPr>
          <p:cNvSpPr txBox="1"/>
          <p:nvPr/>
        </p:nvSpPr>
        <p:spPr>
          <a:xfrm>
            <a:off x="503999" y="2936017"/>
            <a:ext cx="685785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b="1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Project details</a:t>
            </a: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기획초기 리뷰 참여 및 상태 별 동작에 대한 우선순위 제안</a:t>
            </a: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단말 별 민감도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블라인드 테스트 및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Sensor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스타일 제안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  →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SENSOR_DELAY_NORMAL </a:t>
            </a: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→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SENSOR_DELAY_UI </a:t>
            </a: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→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SENSOR_DELAY_GAME</a:t>
            </a:r>
          </a:p>
          <a:p>
            <a:pPr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소모전류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Test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자동화 프로그램 설계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→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Power Monitor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장비를 사용하지 않고 디바이스에 자동화 프로그램 설치 후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매 시간마다 소모전류 체크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21B373-4F41-4EF4-90A8-32AB0763A677}"/>
              </a:ext>
            </a:extLst>
          </p:cNvPr>
          <p:cNvSpPr txBox="1"/>
          <p:nvPr/>
        </p:nvSpPr>
        <p:spPr>
          <a:xfrm>
            <a:off x="503999" y="1836000"/>
            <a:ext cx="657793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Introduction </a:t>
            </a:r>
          </a:p>
          <a:p>
            <a:pPr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가속도 센서를 이용하여 사용자의 특정한 동작을 감지 후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인터넷 브라우저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음악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사진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등의 어플을 제어</a:t>
            </a: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AD04EE9F-20A3-41BC-A25D-E90AA7033E7E}"/>
              </a:ext>
            </a:extLst>
          </p:cNvPr>
          <p:cNvSpPr/>
          <p:nvPr/>
        </p:nvSpPr>
        <p:spPr>
          <a:xfrm>
            <a:off x="10268147" y="3220495"/>
            <a:ext cx="436222" cy="837142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CE9278-F167-417F-9BEE-6A40F4547B21}"/>
              </a:ext>
            </a:extLst>
          </p:cNvPr>
          <p:cNvSpPr txBox="1"/>
          <p:nvPr/>
        </p:nvSpPr>
        <p:spPr>
          <a:xfrm>
            <a:off x="504000" y="5840749"/>
            <a:ext cx="330289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Software and language used</a:t>
            </a:r>
          </a:p>
          <a:p>
            <a:pPr algn="l"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Android studio, PMS, ADB</a:t>
            </a:r>
            <a:endParaRPr lang="en-US" altLang="ko-KR" sz="1500" b="0" i="0" dirty="0">
              <a:solidFill>
                <a:srgbClr val="202124"/>
              </a:solidFill>
              <a:effectLst/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8633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2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담당 프로젝트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FE8790-0FB9-4072-9DE3-42AF575771CA}"/>
              </a:ext>
            </a:extLst>
          </p:cNvPr>
          <p:cNvSpPr txBox="1"/>
          <p:nvPr/>
        </p:nvSpPr>
        <p:spPr>
          <a:xfrm>
            <a:off x="360000" y="1188000"/>
            <a:ext cx="4668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Navigation app development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F65298-691D-4D2E-A8AD-99805A73184F}"/>
              </a:ext>
            </a:extLst>
          </p:cNvPr>
          <p:cNvSpPr txBox="1"/>
          <p:nvPr/>
        </p:nvSpPr>
        <p:spPr>
          <a:xfrm>
            <a:off x="504000" y="2975320"/>
            <a:ext cx="6172988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Project details</a:t>
            </a:r>
          </a:p>
          <a:p>
            <a:pPr marL="180000">
              <a:spcBef>
                <a:spcPts val="12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Movie Player, Photo Player, Aux Player, Factory Program, Setup, Mando Voice, Send to car, GPS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수신 감도 측정 개발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180000">
              <a:spcBef>
                <a:spcPts val="12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S/W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매뉴얼 작성 및 진행상황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&amp;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결과보고서 작성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180000">
              <a:spcBef>
                <a:spcPts val="12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WBS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관리 및 일정 조율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180000">
              <a:spcBef>
                <a:spcPts val="12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→ 프로젝트 진행 중 다른 프로젝트 추가 시 개발 요구사항 및 중요도에 따라 업무 분담 제안 및 담당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21B373-4F41-4EF4-90A8-32AB0763A677}"/>
              </a:ext>
            </a:extLst>
          </p:cNvPr>
          <p:cNvSpPr txBox="1"/>
          <p:nvPr/>
        </p:nvSpPr>
        <p:spPr>
          <a:xfrm>
            <a:off x="504000" y="1836000"/>
            <a:ext cx="6116074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Introduction</a:t>
            </a: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Navigation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에 탑재 되는 멀티미디어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App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개발 및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Map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과의 연동처리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277A37-151C-4BEA-92B7-ABCF0356748A}"/>
              </a:ext>
            </a:extLst>
          </p:cNvPr>
          <p:cNvSpPr txBox="1"/>
          <p:nvPr/>
        </p:nvSpPr>
        <p:spPr>
          <a:xfrm>
            <a:off x="504000" y="5757077"/>
            <a:ext cx="5846466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Software and language used</a:t>
            </a:r>
          </a:p>
          <a:p>
            <a:pPr algn="l"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Visual studio, Android studio, Wince, C++,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JAVA, </a:t>
            </a:r>
            <a:r>
              <a:rPr lang="en-US" altLang="ko-KR" sz="1500" b="0" i="0" dirty="0">
                <a:solidFill>
                  <a:srgbClr val="202124"/>
                </a:solidFill>
                <a:effectLst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TortoiseSVN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AD2CA68-B2C1-45D7-A371-15490607E949}"/>
              </a:ext>
            </a:extLst>
          </p:cNvPr>
          <p:cNvGrpSpPr/>
          <p:nvPr/>
        </p:nvGrpSpPr>
        <p:grpSpPr>
          <a:xfrm>
            <a:off x="7055625" y="1892391"/>
            <a:ext cx="4403195" cy="4208026"/>
            <a:chOff x="12987545" y="2272769"/>
            <a:chExt cx="9973294" cy="9531235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15D28001-9122-46C2-BF23-EBD117B5BDE9}"/>
                </a:ext>
              </a:extLst>
            </p:cNvPr>
            <p:cNvSpPr/>
            <p:nvPr/>
          </p:nvSpPr>
          <p:spPr>
            <a:xfrm>
              <a:off x="16513659" y="2272769"/>
              <a:ext cx="2712311" cy="1491061"/>
            </a:xfrm>
            <a:prstGeom prst="roundRect">
              <a:avLst/>
            </a:prstGeom>
            <a:solidFill>
              <a:schemeClr val="accent1">
                <a:lumMod val="1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Map</a:t>
              </a:r>
              <a:endParaRPr lang="ko-KR" altLang="en-US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9FE7EF5-4F0D-46E9-AF46-05594FE64F78}"/>
                </a:ext>
              </a:extLst>
            </p:cNvPr>
            <p:cNvSpPr/>
            <p:nvPr/>
          </p:nvSpPr>
          <p:spPr>
            <a:xfrm>
              <a:off x="13078848" y="6292856"/>
              <a:ext cx="3933561" cy="1491061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PIP Mode</a:t>
              </a:r>
              <a:endParaRPr lang="ko-KR" altLang="en-US" sz="13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  <a:p>
              <a:pPr algn="ctr"/>
              <a:r>
                <a:rPr lang="en-US" altLang="ko-KR" sz="13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(Map + Multimedia)</a:t>
              </a: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3B24AD74-74F1-4CCF-9CAB-7F63CEC87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67735" y="4001319"/>
              <a:ext cx="2572566" cy="20669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2B70329-F8C4-4889-BF88-95C2E031A071}"/>
                </a:ext>
              </a:extLst>
            </p:cNvPr>
            <p:cNvSpPr/>
            <p:nvPr/>
          </p:nvSpPr>
          <p:spPr>
            <a:xfrm>
              <a:off x="18710595" y="6292856"/>
              <a:ext cx="3933561" cy="1491061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Map Full Mode</a:t>
              </a:r>
              <a:endParaRPr lang="ko-KR" altLang="en-US" sz="16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2E90111-98DB-4B78-910A-038CC63D4505}"/>
                </a:ext>
              </a:extLst>
            </p:cNvPr>
            <p:cNvSpPr txBox="1"/>
            <p:nvPr/>
          </p:nvSpPr>
          <p:spPr>
            <a:xfrm>
              <a:off x="12987545" y="4200789"/>
              <a:ext cx="3417431" cy="975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Multimedia App </a:t>
              </a:r>
              <a:r>
                <a:rPr lang="ko-KR" altLang="en-US" sz="11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실행</a:t>
              </a:r>
            </a:p>
            <a:p>
              <a:pPr algn="ctr"/>
              <a:r>
                <a:rPr lang="en-US" altLang="ko-KR" sz="1100" b="0" dirty="0" err="1">
                  <a:effectLst/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App_Run</a:t>
              </a:r>
              <a:endParaRPr lang="en-US" altLang="ko-KR" sz="1100" b="0" dirty="0"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7010556-9099-484A-A50D-C514FC8025AD}"/>
                </a:ext>
              </a:extLst>
            </p:cNvPr>
            <p:cNvSpPr txBox="1"/>
            <p:nvPr/>
          </p:nvSpPr>
          <p:spPr>
            <a:xfrm>
              <a:off x="19136856" y="4200789"/>
              <a:ext cx="3823983" cy="9759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Multimedia App </a:t>
              </a:r>
              <a:r>
                <a:rPr lang="ko-KR" altLang="en-US" sz="11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미 실행</a:t>
              </a:r>
              <a:endParaRPr lang="en-US" altLang="ko-KR" sz="11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  <a:p>
              <a:pPr algn="ctr"/>
              <a:r>
                <a:rPr lang="en-US" altLang="ko-KR" sz="1100" b="0" dirty="0" err="1">
                  <a:effectLst/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App_Run</a:t>
              </a:r>
              <a:endParaRPr lang="en-US" altLang="ko-KR" sz="1100" b="0" dirty="0"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A136D0D-5512-44BB-B4D9-D7E1635B746C}"/>
                </a:ext>
              </a:extLst>
            </p:cNvPr>
            <p:cNvSpPr txBox="1"/>
            <p:nvPr/>
          </p:nvSpPr>
          <p:spPr>
            <a:xfrm>
              <a:off x="19854958" y="9167064"/>
              <a:ext cx="2789198" cy="9759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Map </a:t>
              </a:r>
              <a:r>
                <a:rPr lang="ko-KR" altLang="en-US" sz="11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종료</a:t>
              </a:r>
              <a:endParaRPr lang="en-US" altLang="ko-KR" sz="11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  <a:p>
              <a:pPr algn="ctr"/>
              <a:r>
                <a:rPr lang="en-US" altLang="ko-KR" sz="1100" b="0" dirty="0">
                  <a:effectLst/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WM_DESTROY</a:t>
              </a:r>
              <a:endParaRPr lang="ko-KR" altLang="en-US" sz="11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E7270D-1E6D-45F5-AF8B-46FD45A945B5}"/>
                </a:ext>
              </a:extLst>
            </p:cNvPr>
            <p:cNvSpPr txBox="1"/>
            <p:nvPr/>
          </p:nvSpPr>
          <p:spPr>
            <a:xfrm>
              <a:off x="13376894" y="9226172"/>
              <a:ext cx="2789198" cy="9759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Map </a:t>
              </a:r>
              <a:r>
                <a:rPr lang="ko-KR" altLang="en-US" sz="11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종료</a:t>
              </a:r>
              <a:endParaRPr lang="en-US" altLang="ko-KR" sz="11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  <a:p>
              <a:pPr algn="ctr"/>
              <a:r>
                <a:rPr lang="en-US" altLang="ko-KR" sz="1100" b="0" dirty="0">
                  <a:effectLst/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WM_DESTROY</a:t>
              </a:r>
              <a:endParaRPr lang="ko-KR" altLang="en-US" sz="11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2DD1022F-8AC8-4350-A4FE-7B4138474C18}"/>
                </a:ext>
              </a:extLst>
            </p:cNvPr>
            <p:cNvSpPr/>
            <p:nvPr/>
          </p:nvSpPr>
          <p:spPr>
            <a:xfrm>
              <a:off x="16085618" y="10312943"/>
              <a:ext cx="3568391" cy="1491061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Main</a:t>
              </a:r>
              <a:r>
                <a:rPr lang="ko-KR" altLang="en-US" sz="16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 </a:t>
              </a:r>
              <a:endParaRPr lang="en-US" altLang="ko-KR" sz="16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  <a:p>
              <a:pPr algn="ctr"/>
              <a:r>
                <a:rPr lang="en-US" altLang="ko-KR" sz="16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Full</a:t>
              </a:r>
              <a:r>
                <a:rPr lang="ko-KR" altLang="en-US" sz="16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 </a:t>
              </a:r>
              <a:r>
                <a:rPr lang="en-US" altLang="ko-KR" sz="1600" dirty="0">
                  <a:latin typeface="나눔명조OTF ExtraBold" panose="02020603020101020101" pitchFamily="18" charset="-127"/>
                  <a:ea typeface="나눔명조OTF ExtraBold" panose="02020603020101020101" pitchFamily="18" charset="-127"/>
                </a:rPr>
                <a:t>Mode</a:t>
              </a:r>
              <a:endParaRPr lang="ko-KR" altLang="en-US" sz="16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endParaRP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99880C99-A7B3-4D0C-BEA5-F245E30729E8}"/>
                </a:ext>
              </a:extLst>
            </p:cNvPr>
            <p:cNvCxnSpPr>
              <a:cxnSpLocks/>
            </p:cNvCxnSpPr>
            <p:nvPr/>
          </p:nvCxnSpPr>
          <p:spPr>
            <a:xfrm>
              <a:off x="15067735" y="7939423"/>
              <a:ext cx="2572566" cy="2204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B834BD9E-CE10-4B6C-A9AC-07E61CAE4E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011775" y="7939423"/>
              <a:ext cx="2665604" cy="2204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57C6DDC8-2CCE-460A-B0BA-E38CADE3629A}"/>
                </a:ext>
              </a:extLst>
            </p:cNvPr>
            <p:cNvCxnSpPr>
              <a:cxnSpLocks/>
            </p:cNvCxnSpPr>
            <p:nvPr/>
          </p:nvCxnSpPr>
          <p:spPr>
            <a:xfrm>
              <a:off x="18011775" y="4001319"/>
              <a:ext cx="2665600" cy="20669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221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2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담당 프로젝트</a:t>
            </a:r>
          </a:p>
        </p:txBody>
      </p:sp>
      <p:sp>
        <p:nvSpPr>
          <p:cNvPr id="13" name="사각형: 둥근 모서리 4">
            <a:extLst>
              <a:ext uri="{FF2B5EF4-FFF2-40B4-BE49-F238E27FC236}">
                <a16:creationId xmlns:a16="http://schemas.microsoft.com/office/drawing/2014/main" id="{09CE5959-0D78-46D2-9860-E5C7A4D34A72}"/>
              </a:ext>
            </a:extLst>
          </p:cNvPr>
          <p:cNvSpPr/>
          <p:nvPr/>
        </p:nvSpPr>
        <p:spPr>
          <a:xfrm>
            <a:off x="6393782" y="1861585"/>
            <a:ext cx="1663983" cy="447674"/>
          </a:xfrm>
          <a:prstGeom prst="roundRect">
            <a:avLst>
              <a:gd name="adj" fmla="val 50000"/>
            </a:avLst>
          </a:prstGeom>
          <a:solidFill>
            <a:srgbClr val="AC8A68"/>
          </a:solidFill>
          <a:ln w="19050">
            <a:solidFill>
              <a:srgbClr val="AC8A6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prstClr val="white"/>
                </a:solidFill>
              </a:rPr>
              <a:t>CSR</a:t>
            </a:r>
            <a:r>
              <a:rPr lang="ko-KR" altLang="en-US" sz="1500" b="1" dirty="0">
                <a:solidFill>
                  <a:prstClr val="white"/>
                </a:solidFill>
              </a:rPr>
              <a:t> 정기 건</a:t>
            </a:r>
          </a:p>
        </p:txBody>
      </p:sp>
      <p:sp>
        <p:nvSpPr>
          <p:cNvPr id="14" name="사각형: 둥근 모서리 5">
            <a:extLst>
              <a:ext uri="{FF2B5EF4-FFF2-40B4-BE49-F238E27FC236}">
                <a16:creationId xmlns:a16="http://schemas.microsoft.com/office/drawing/2014/main" id="{E0EB1664-FDFE-4923-9888-CB17C72720CE}"/>
              </a:ext>
            </a:extLst>
          </p:cNvPr>
          <p:cNvSpPr/>
          <p:nvPr/>
        </p:nvSpPr>
        <p:spPr>
          <a:xfrm>
            <a:off x="9546706" y="1862264"/>
            <a:ext cx="1663983" cy="4476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AC8A6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장기 프로젝트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A4DD1C-4839-45EA-9AAB-1A57C4104FAF}"/>
              </a:ext>
            </a:extLst>
          </p:cNvPr>
          <p:cNvSpPr txBox="1"/>
          <p:nvPr/>
        </p:nvSpPr>
        <p:spPr>
          <a:xfrm>
            <a:off x="9507238" y="2625459"/>
            <a:ext cx="17796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일정 확인 및 업무 배정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6331711-4305-4276-9CAC-67C144277DFD}"/>
              </a:ext>
            </a:extLst>
          </p:cNvPr>
          <p:cNvGrpSpPr/>
          <p:nvPr/>
        </p:nvGrpSpPr>
        <p:grpSpPr>
          <a:xfrm>
            <a:off x="7949404" y="2350760"/>
            <a:ext cx="1663998" cy="777102"/>
            <a:chOff x="5146126" y="2530513"/>
            <a:chExt cx="1903604" cy="889000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41B49E1-95DA-4896-BCF5-53469855EF3A}"/>
                </a:ext>
              </a:extLst>
            </p:cNvPr>
            <p:cNvSpPr/>
            <p:nvPr/>
          </p:nvSpPr>
          <p:spPr>
            <a:xfrm>
              <a:off x="5651500" y="2530513"/>
              <a:ext cx="889000" cy="889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9613899-78A9-43DD-AC8E-EF9ACEF8FF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65894" y="2703240"/>
              <a:ext cx="297256" cy="364946"/>
            </a:xfrm>
            <a:custGeom>
              <a:avLst/>
              <a:gdLst>
                <a:gd name="T0" fmla="*/ 1930 w 2831"/>
                <a:gd name="T1" fmla="*/ 2787 h 3472"/>
                <a:gd name="T2" fmla="*/ 1791 w 2831"/>
                <a:gd name="T3" fmla="*/ 2855 h 3472"/>
                <a:gd name="T4" fmla="*/ 2114 w 2831"/>
                <a:gd name="T5" fmla="*/ 3172 h 3472"/>
                <a:gd name="T6" fmla="*/ 2628 w 2831"/>
                <a:gd name="T7" fmla="*/ 2656 h 3472"/>
                <a:gd name="T8" fmla="*/ 2538 w 2831"/>
                <a:gd name="T9" fmla="*/ 2529 h 3472"/>
                <a:gd name="T10" fmla="*/ 1440 w 2831"/>
                <a:gd name="T11" fmla="*/ 2529 h 3472"/>
                <a:gd name="T12" fmla="*/ 914 w 2831"/>
                <a:gd name="T13" fmla="*/ 2569 h 3472"/>
                <a:gd name="T14" fmla="*/ 928 w 2831"/>
                <a:gd name="T15" fmla="*/ 2433 h 3472"/>
                <a:gd name="T16" fmla="*/ 807 w 2831"/>
                <a:gd name="T17" fmla="*/ 2382 h 3472"/>
                <a:gd name="T18" fmla="*/ 439 w 2831"/>
                <a:gd name="T19" fmla="*/ 2514 h 3472"/>
                <a:gd name="T20" fmla="*/ 470 w 2831"/>
                <a:gd name="T21" fmla="*/ 2433 h 3472"/>
                <a:gd name="T22" fmla="*/ 2186 w 2831"/>
                <a:gd name="T23" fmla="*/ 2182 h 3472"/>
                <a:gd name="T24" fmla="*/ 2642 w 2831"/>
                <a:gd name="T25" fmla="*/ 2371 h 3472"/>
                <a:gd name="T26" fmla="*/ 2831 w 2831"/>
                <a:gd name="T27" fmla="*/ 2827 h 3472"/>
                <a:gd name="T28" fmla="*/ 2642 w 2831"/>
                <a:gd name="T29" fmla="*/ 3283 h 3472"/>
                <a:gd name="T30" fmla="*/ 2186 w 2831"/>
                <a:gd name="T31" fmla="*/ 3472 h 3472"/>
                <a:gd name="T32" fmla="*/ 1729 w 2831"/>
                <a:gd name="T33" fmla="*/ 3283 h 3472"/>
                <a:gd name="T34" fmla="*/ 1540 w 2831"/>
                <a:gd name="T35" fmla="*/ 2827 h 3472"/>
                <a:gd name="T36" fmla="*/ 1729 w 2831"/>
                <a:gd name="T37" fmla="*/ 2371 h 3472"/>
                <a:gd name="T38" fmla="*/ 2186 w 2831"/>
                <a:gd name="T39" fmla="*/ 2182 h 3472"/>
                <a:gd name="T40" fmla="*/ 1540 w 2831"/>
                <a:gd name="T41" fmla="*/ 2083 h 3472"/>
                <a:gd name="T42" fmla="*/ 914 w 2831"/>
                <a:gd name="T43" fmla="*/ 2123 h 3472"/>
                <a:gd name="T44" fmla="*/ 928 w 2831"/>
                <a:gd name="T45" fmla="*/ 1986 h 3472"/>
                <a:gd name="T46" fmla="*/ 807 w 2831"/>
                <a:gd name="T47" fmla="*/ 1957 h 3472"/>
                <a:gd name="T48" fmla="*/ 439 w 2831"/>
                <a:gd name="T49" fmla="*/ 2088 h 3472"/>
                <a:gd name="T50" fmla="*/ 470 w 2831"/>
                <a:gd name="T51" fmla="*/ 2007 h 3472"/>
                <a:gd name="T52" fmla="*/ 944 w 2831"/>
                <a:gd name="T53" fmla="*/ 1588 h 3472"/>
                <a:gd name="T54" fmla="*/ 1786 w 2831"/>
                <a:gd name="T55" fmla="*/ 1702 h 3472"/>
                <a:gd name="T56" fmla="*/ 904 w 2831"/>
                <a:gd name="T57" fmla="*/ 1716 h 3472"/>
                <a:gd name="T58" fmla="*/ 944 w 2831"/>
                <a:gd name="T59" fmla="*/ 1588 h 3472"/>
                <a:gd name="T60" fmla="*/ 800 w 2831"/>
                <a:gd name="T61" fmla="*/ 1548 h 3472"/>
                <a:gd name="T62" fmla="*/ 430 w 2831"/>
                <a:gd name="T63" fmla="*/ 1656 h 3472"/>
                <a:gd name="T64" fmla="*/ 484 w 2831"/>
                <a:gd name="T65" fmla="*/ 1589 h 3472"/>
                <a:gd name="T66" fmla="*/ 1738 w 2831"/>
                <a:gd name="T67" fmla="*/ 1140 h 3472"/>
                <a:gd name="T68" fmla="*/ 1778 w 2831"/>
                <a:gd name="T69" fmla="*/ 1269 h 3472"/>
                <a:gd name="T70" fmla="*/ 896 w 2831"/>
                <a:gd name="T71" fmla="*/ 1255 h 3472"/>
                <a:gd name="T72" fmla="*/ 769 w 2831"/>
                <a:gd name="T73" fmla="*/ 1030 h 3472"/>
                <a:gd name="T74" fmla="*/ 616 w 2831"/>
                <a:gd name="T75" fmla="*/ 1312 h 3472"/>
                <a:gd name="T76" fmla="*/ 423 w 2831"/>
                <a:gd name="T77" fmla="*/ 1202 h 3472"/>
                <a:gd name="T78" fmla="*/ 496 w 2831"/>
                <a:gd name="T79" fmla="*/ 1154 h 3472"/>
                <a:gd name="T80" fmla="*/ 548 w 2831"/>
                <a:gd name="T81" fmla="*/ 372 h 3472"/>
                <a:gd name="T82" fmla="*/ 681 w 2831"/>
                <a:gd name="T83" fmla="*/ 618 h 3472"/>
                <a:gd name="T84" fmla="*/ 1588 w 2831"/>
                <a:gd name="T85" fmla="*/ 597 h 3472"/>
                <a:gd name="T86" fmla="*/ 1683 w 2831"/>
                <a:gd name="T87" fmla="*/ 347 h 3472"/>
                <a:gd name="T88" fmla="*/ 2201 w 2831"/>
                <a:gd name="T89" fmla="*/ 438 h 3472"/>
                <a:gd name="T90" fmla="*/ 2118 w 2831"/>
                <a:gd name="T91" fmla="*/ 2037 h 3472"/>
                <a:gd name="T92" fmla="*/ 1412 w 2831"/>
                <a:gd name="T93" fmla="*/ 3005 h 3472"/>
                <a:gd name="T94" fmla="*/ 47 w 2831"/>
                <a:gd name="T95" fmla="*/ 3054 h 3472"/>
                <a:gd name="T96" fmla="*/ 21 w 2831"/>
                <a:gd name="T97" fmla="*/ 455 h 3472"/>
                <a:gd name="T98" fmla="*/ 1118 w 2831"/>
                <a:gd name="T99" fmla="*/ 99 h 3472"/>
                <a:gd name="T100" fmla="*/ 1053 w 2831"/>
                <a:gd name="T101" fmla="*/ 211 h 3472"/>
                <a:gd name="T102" fmla="*/ 1182 w 2831"/>
                <a:gd name="T103" fmla="*/ 211 h 3472"/>
                <a:gd name="T104" fmla="*/ 1118 w 2831"/>
                <a:gd name="T105" fmla="*/ 99 h 3472"/>
                <a:gd name="T106" fmla="*/ 1268 w 2831"/>
                <a:gd name="T107" fmla="*/ 85 h 3472"/>
                <a:gd name="T108" fmla="*/ 1328 w 2831"/>
                <a:gd name="T109" fmla="*/ 238 h 3472"/>
                <a:gd name="T110" fmla="*/ 1564 w 2831"/>
                <a:gd name="T111" fmla="*/ 312 h 3472"/>
                <a:gd name="T112" fmla="*/ 1547 w 2831"/>
                <a:gd name="T113" fmla="*/ 503 h 3472"/>
                <a:gd name="T114" fmla="*/ 711 w 2831"/>
                <a:gd name="T115" fmla="*/ 521 h 3472"/>
                <a:gd name="T116" fmla="*/ 657 w 2831"/>
                <a:gd name="T117" fmla="*/ 338 h 3472"/>
                <a:gd name="T118" fmla="*/ 889 w 2831"/>
                <a:gd name="T119" fmla="*/ 245 h 3472"/>
                <a:gd name="T120" fmla="*/ 954 w 2831"/>
                <a:gd name="T121" fmla="*/ 112 h 3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31" h="3472">
                  <a:moveTo>
                    <a:pt x="2538" y="2529"/>
                  </a:moveTo>
                  <a:lnTo>
                    <a:pt x="2517" y="2531"/>
                  </a:lnTo>
                  <a:lnTo>
                    <a:pt x="2496" y="2537"/>
                  </a:lnTo>
                  <a:lnTo>
                    <a:pt x="2476" y="2547"/>
                  </a:lnTo>
                  <a:lnTo>
                    <a:pt x="2459" y="2563"/>
                  </a:lnTo>
                  <a:lnTo>
                    <a:pt x="2124" y="2939"/>
                  </a:lnTo>
                  <a:lnTo>
                    <a:pt x="1950" y="2800"/>
                  </a:lnTo>
                  <a:lnTo>
                    <a:pt x="1930" y="2787"/>
                  </a:lnTo>
                  <a:lnTo>
                    <a:pt x="1909" y="2780"/>
                  </a:lnTo>
                  <a:lnTo>
                    <a:pt x="1888" y="2778"/>
                  </a:lnTo>
                  <a:lnTo>
                    <a:pt x="1866" y="2780"/>
                  </a:lnTo>
                  <a:lnTo>
                    <a:pt x="1845" y="2787"/>
                  </a:lnTo>
                  <a:lnTo>
                    <a:pt x="1826" y="2799"/>
                  </a:lnTo>
                  <a:lnTo>
                    <a:pt x="1810" y="2814"/>
                  </a:lnTo>
                  <a:lnTo>
                    <a:pt x="1797" y="2834"/>
                  </a:lnTo>
                  <a:lnTo>
                    <a:pt x="1791" y="2855"/>
                  </a:lnTo>
                  <a:lnTo>
                    <a:pt x="1788" y="2876"/>
                  </a:lnTo>
                  <a:lnTo>
                    <a:pt x="1791" y="2899"/>
                  </a:lnTo>
                  <a:lnTo>
                    <a:pt x="1797" y="2920"/>
                  </a:lnTo>
                  <a:lnTo>
                    <a:pt x="1809" y="2938"/>
                  </a:lnTo>
                  <a:lnTo>
                    <a:pt x="1826" y="2954"/>
                  </a:lnTo>
                  <a:lnTo>
                    <a:pt x="2073" y="3152"/>
                  </a:lnTo>
                  <a:lnTo>
                    <a:pt x="2093" y="3165"/>
                  </a:lnTo>
                  <a:lnTo>
                    <a:pt x="2114" y="3172"/>
                  </a:lnTo>
                  <a:lnTo>
                    <a:pt x="2135" y="3174"/>
                  </a:lnTo>
                  <a:lnTo>
                    <a:pt x="2156" y="3172"/>
                  </a:lnTo>
                  <a:lnTo>
                    <a:pt x="2175" y="3166"/>
                  </a:lnTo>
                  <a:lnTo>
                    <a:pt x="2194" y="3155"/>
                  </a:lnTo>
                  <a:lnTo>
                    <a:pt x="2210" y="3142"/>
                  </a:lnTo>
                  <a:lnTo>
                    <a:pt x="2607" y="2694"/>
                  </a:lnTo>
                  <a:lnTo>
                    <a:pt x="2620" y="2676"/>
                  </a:lnTo>
                  <a:lnTo>
                    <a:pt x="2628" y="2656"/>
                  </a:lnTo>
                  <a:lnTo>
                    <a:pt x="2633" y="2633"/>
                  </a:lnTo>
                  <a:lnTo>
                    <a:pt x="2631" y="2612"/>
                  </a:lnTo>
                  <a:lnTo>
                    <a:pt x="2625" y="2591"/>
                  </a:lnTo>
                  <a:lnTo>
                    <a:pt x="2615" y="2571"/>
                  </a:lnTo>
                  <a:lnTo>
                    <a:pt x="2599" y="2555"/>
                  </a:lnTo>
                  <a:lnTo>
                    <a:pt x="2580" y="2542"/>
                  </a:lnTo>
                  <a:lnTo>
                    <a:pt x="2560" y="2534"/>
                  </a:lnTo>
                  <a:lnTo>
                    <a:pt x="2538" y="2529"/>
                  </a:lnTo>
                  <a:close/>
                  <a:moveTo>
                    <a:pt x="944" y="2430"/>
                  </a:moveTo>
                  <a:lnTo>
                    <a:pt x="1391" y="2430"/>
                  </a:lnTo>
                  <a:lnTo>
                    <a:pt x="1406" y="2433"/>
                  </a:lnTo>
                  <a:lnTo>
                    <a:pt x="1420" y="2440"/>
                  </a:lnTo>
                  <a:lnTo>
                    <a:pt x="1431" y="2450"/>
                  </a:lnTo>
                  <a:lnTo>
                    <a:pt x="1438" y="2464"/>
                  </a:lnTo>
                  <a:lnTo>
                    <a:pt x="1440" y="2480"/>
                  </a:lnTo>
                  <a:lnTo>
                    <a:pt x="1440" y="2529"/>
                  </a:lnTo>
                  <a:lnTo>
                    <a:pt x="1438" y="2545"/>
                  </a:lnTo>
                  <a:lnTo>
                    <a:pt x="1431" y="2559"/>
                  </a:lnTo>
                  <a:lnTo>
                    <a:pt x="1420" y="2569"/>
                  </a:lnTo>
                  <a:lnTo>
                    <a:pt x="1406" y="2577"/>
                  </a:lnTo>
                  <a:lnTo>
                    <a:pt x="1391" y="2579"/>
                  </a:lnTo>
                  <a:lnTo>
                    <a:pt x="944" y="2579"/>
                  </a:lnTo>
                  <a:lnTo>
                    <a:pt x="928" y="2577"/>
                  </a:lnTo>
                  <a:lnTo>
                    <a:pt x="914" y="2569"/>
                  </a:lnTo>
                  <a:lnTo>
                    <a:pt x="904" y="2559"/>
                  </a:lnTo>
                  <a:lnTo>
                    <a:pt x="896" y="2545"/>
                  </a:lnTo>
                  <a:lnTo>
                    <a:pt x="894" y="2529"/>
                  </a:lnTo>
                  <a:lnTo>
                    <a:pt x="894" y="2480"/>
                  </a:lnTo>
                  <a:lnTo>
                    <a:pt x="896" y="2464"/>
                  </a:lnTo>
                  <a:lnTo>
                    <a:pt x="904" y="2450"/>
                  </a:lnTo>
                  <a:lnTo>
                    <a:pt x="914" y="2440"/>
                  </a:lnTo>
                  <a:lnTo>
                    <a:pt x="928" y="2433"/>
                  </a:lnTo>
                  <a:lnTo>
                    <a:pt x="944" y="2430"/>
                  </a:lnTo>
                  <a:close/>
                  <a:moveTo>
                    <a:pt x="769" y="2319"/>
                  </a:moveTo>
                  <a:lnTo>
                    <a:pt x="783" y="2322"/>
                  </a:lnTo>
                  <a:lnTo>
                    <a:pt x="795" y="2330"/>
                  </a:lnTo>
                  <a:lnTo>
                    <a:pt x="805" y="2341"/>
                  </a:lnTo>
                  <a:lnTo>
                    <a:pt x="810" y="2355"/>
                  </a:lnTo>
                  <a:lnTo>
                    <a:pt x="810" y="2368"/>
                  </a:lnTo>
                  <a:lnTo>
                    <a:pt x="807" y="2382"/>
                  </a:lnTo>
                  <a:lnTo>
                    <a:pt x="800" y="2395"/>
                  </a:lnTo>
                  <a:lnTo>
                    <a:pt x="616" y="2600"/>
                  </a:lnTo>
                  <a:lnTo>
                    <a:pt x="606" y="2608"/>
                  </a:lnTo>
                  <a:lnTo>
                    <a:pt x="594" y="2613"/>
                  </a:lnTo>
                  <a:lnTo>
                    <a:pt x="581" y="2616"/>
                  </a:lnTo>
                  <a:lnTo>
                    <a:pt x="567" y="2612"/>
                  </a:lnTo>
                  <a:lnTo>
                    <a:pt x="553" y="2605"/>
                  </a:lnTo>
                  <a:lnTo>
                    <a:pt x="439" y="2514"/>
                  </a:lnTo>
                  <a:lnTo>
                    <a:pt x="430" y="2503"/>
                  </a:lnTo>
                  <a:lnTo>
                    <a:pt x="423" y="2490"/>
                  </a:lnTo>
                  <a:lnTo>
                    <a:pt x="422" y="2477"/>
                  </a:lnTo>
                  <a:lnTo>
                    <a:pt x="425" y="2463"/>
                  </a:lnTo>
                  <a:lnTo>
                    <a:pt x="432" y="2449"/>
                  </a:lnTo>
                  <a:lnTo>
                    <a:pt x="442" y="2440"/>
                  </a:lnTo>
                  <a:lnTo>
                    <a:pt x="456" y="2435"/>
                  </a:lnTo>
                  <a:lnTo>
                    <a:pt x="470" y="2433"/>
                  </a:lnTo>
                  <a:lnTo>
                    <a:pt x="484" y="2436"/>
                  </a:lnTo>
                  <a:lnTo>
                    <a:pt x="496" y="2443"/>
                  </a:lnTo>
                  <a:lnTo>
                    <a:pt x="576" y="2507"/>
                  </a:lnTo>
                  <a:lnTo>
                    <a:pt x="731" y="2334"/>
                  </a:lnTo>
                  <a:lnTo>
                    <a:pt x="742" y="2324"/>
                  </a:lnTo>
                  <a:lnTo>
                    <a:pt x="755" y="2320"/>
                  </a:lnTo>
                  <a:lnTo>
                    <a:pt x="769" y="2319"/>
                  </a:lnTo>
                  <a:close/>
                  <a:moveTo>
                    <a:pt x="2186" y="2182"/>
                  </a:moveTo>
                  <a:lnTo>
                    <a:pt x="2251" y="2185"/>
                  </a:lnTo>
                  <a:lnTo>
                    <a:pt x="2316" y="2196"/>
                  </a:lnTo>
                  <a:lnTo>
                    <a:pt x="2378" y="2212"/>
                  </a:lnTo>
                  <a:lnTo>
                    <a:pt x="2437" y="2233"/>
                  </a:lnTo>
                  <a:lnTo>
                    <a:pt x="2494" y="2260"/>
                  </a:lnTo>
                  <a:lnTo>
                    <a:pt x="2546" y="2293"/>
                  </a:lnTo>
                  <a:lnTo>
                    <a:pt x="2596" y="2329"/>
                  </a:lnTo>
                  <a:lnTo>
                    <a:pt x="2642" y="2371"/>
                  </a:lnTo>
                  <a:lnTo>
                    <a:pt x="2683" y="2417"/>
                  </a:lnTo>
                  <a:lnTo>
                    <a:pt x="2721" y="2466"/>
                  </a:lnTo>
                  <a:lnTo>
                    <a:pt x="2753" y="2520"/>
                  </a:lnTo>
                  <a:lnTo>
                    <a:pt x="2780" y="2577"/>
                  </a:lnTo>
                  <a:lnTo>
                    <a:pt x="2802" y="2636"/>
                  </a:lnTo>
                  <a:lnTo>
                    <a:pt x="2818" y="2698"/>
                  </a:lnTo>
                  <a:lnTo>
                    <a:pt x="2828" y="2761"/>
                  </a:lnTo>
                  <a:lnTo>
                    <a:pt x="2831" y="2827"/>
                  </a:lnTo>
                  <a:lnTo>
                    <a:pt x="2828" y="2893"/>
                  </a:lnTo>
                  <a:lnTo>
                    <a:pt x="2818" y="2958"/>
                  </a:lnTo>
                  <a:lnTo>
                    <a:pt x="2802" y="3019"/>
                  </a:lnTo>
                  <a:lnTo>
                    <a:pt x="2780" y="3079"/>
                  </a:lnTo>
                  <a:lnTo>
                    <a:pt x="2753" y="3134"/>
                  </a:lnTo>
                  <a:lnTo>
                    <a:pt x="2721" y="3188"/>
                  </a:lnTo>
                  <a:lnTo>
                    <a:pt x="2683" y="3237"/>
                  </a:lnTo>
                  <a:lnTo>
                    <a:pt x="2642" y="3283"/>
                  </a:lnTo>
                  <a:lnTo>
                    <a:pt x="2596" y="3325"/>
                  </a:lnTo>
                  <a:lnTo>
                    <a:pt x="2546" y="3362"/>
                  </a:lnTo>
                  <a:lnTo>
                    <a:pt x="2494" y="3394"/>
                  </a:lnTo>
                  <a:lnTo>
                    <a:pt x="2437" y="3421"/>
                  </a:lnTo>
                  <a:lnTo>
                    <a:pt x="2378" y="3443"/>
                  </a:lnTo>
                  <a:lnTo>
                    <a:pt x="2316" y="3459"/>
                  </a:lnTo>
                  <a:lnTo>
                    <a:pt x="2251" y="3469"/>
                  </a:lnTo>
                  <a:lnTo>
                    <a:pt x="2186" y="3472"/>
                  </a:lnTo>
                  <a:lnTo>
                    <a:pt x="2120" y="3469"/>
                  </a:lnTo>
                  <a:lnTo>
                    <a:pt x="2055" y="3459"/>
                  </a:lnTo>
                  <a:lnTo>
                    <a:pt x="1993" y="3443"/>
                  </a:lnTo>
                  <a:lnTo>
                    <a:pt x="1934" y="3421"/>
                  </a:lnTo>
                  <a:lnTo>
                    <a:pt x="1877" y="3394"/>
                  </a:lnTo>
                  <a:lnTo>
                    <a:pt x="1825" y="3362"/>
                  </a:lnTo>
                  <a:lnTo>
                    <a:pt x="1775" y="3325"/>
                  </a:lnTo>
                  <a:lnTo>
                    <a:pt x="1729" y="3283"/>
                  </a:lnTo>
                  <a:lnTo>
                    <a:pt x="1688" y="3237"/>
                  </a:lnTo>
                  <a:lnTo>
                    <a:pt x="1650" y="3188"/>
                  </a:lnTo>
                  <a:lnTo>
                    <a:pt x="1618" y="3134"/>
                  </a:lnTo>
                  <a:lnTo>
                    <a:pt x="1591" y="3079"/>
                  </a:lnTo>
                  <a:lnTo>
                    <a:pt x="1569" y="3019"/>
                  </a:lnTo>
                  <a:lnTo>
                    <a:pt x="1553" y="2958"/>
                  </a:lnTo>
                  <a:lnTo>
                    <a:pt x="1543" y="2893"/>
                  </a:lnTo>
                  <a:lnTo>
                    <a:pt x="1540" y="2827"/>
                  </a:lnTo>
                  <a:lnTo>
                    <a:pt x="1543" y="2761"/>
                  </a:lnTo>
                  <a:lnTo>
                    <a:pt x="1553" y="2698"/>
                  </a:lnTo>
                  <a:lnTo>
                    <a:pt x="1569" y="2636"/>
                  </a:lnTo>
                  <a:lnTo>
                    <a:pt x="1591" y="2577"/>
                  </a:lnTo>
                  <a:lnTo>
                    <a:pt x="1618" y="2520"/>
                  </a:lnTo>
                  <a:lnTo>
                    <a:pt x="1650" y="2466"/>
                  </a:lnTo>
                  <a:lnTo>
                    <a:pt x="1688" y="2417"/>
                  </a:lnTo>
                  <a:lnTo>
                    <a:pt x="1729" y="2371"/>
                  </a:lnTo>
                  <a:lnTo>
                    <a:pt x="1775" y="2329"/>
                  </a:lnTo>
                  <a:lnTo>
                    <a:pt x="1825" y="2293"/>
                  </a:lnTo>
                  <a:lnTo>
                    <a:pt x="1877" y="2260"/>
                  </a:lnTo>
                  <a:lnTo>
                    <a:pt x="1934" y="2233"/>
                  </a:lnTo>
                  <a:lnTo>
                    <a:pt x="1993" y="2212"/>
                  </a:lnTo>
                  <a:lnTo>
                    <a:pt x="2055" y="2196"/>
                  </a:lnTo>
                  <a:lnTo>
                    <a:pt x="2120" y="2185"/>
                  </a:lnTo>
                  <a:lnTo>
                    <a:pt x="2186" y="2182"/>
                  </a:lnTo>
                  <a:close/>
                  <a:moveTo>
                    <a:pt x="944" y="1984"/>
                  </a:moveTo>
                  <a:lnTo>
                    <a:pt x="1491" y="1984"/>
                  </a:lnTo>
                  <a:lnTo>
                    <a:pt x="1505" y="1986"/>
                  </a:lnTo>
                  <a:lnTo>
                    <a:pt x="1519" y="1994"/>
                  </a:lnTo>
                  <a:lnTo>
                    <a:pt x="1531" y="2004"/>
                  </a:lnTo>
                  <a:lnTo>
                    <a:pt x="1537" y="2018"/>
                  </a:lnTo>
                  <a:lnTo>
                    <a:pt x="1540" y="2034"/>
                  </a:lnTo>
                  <a:lnTo>
                    <a:pt x="1540" y="2083"/>
                  </a:lnTo>
                  <a:lnTo>
                    <a:pt x="1537" y="2099"/>
                  </a:lnTo>
                  <a:lnTo>
                    <a:pt x="1531" y="2113"/>
                  </a:lnTo>
                  <a:lnTo>
                    <a:pt x="1519" y="2123"/>
                  </a:lnTo>
                  <a:lnTo>
                    <a:pt x="1505" y="2131"/>
                  </a:lnTo>
                  <a:lnTo>
                    <a:pt x="1491" y="2133"/>
                  </a:lnTo>
                  <a:lnTo>
                    <a:pt x="944" y="2133"/>
                  </a:lnTo>
                  <a:lnTo>
                    <a:pt x="928" y="2131"/>
                  </a:lnTo>
                  <a:lnTo>
                    <a:pt x="914" y="2123"/>
                  </a:lnTo>
                  <a:lnTo>
                    <a:pt x="904" y="2113"/>
                  </a:lnTo>
                  <a:lnTo>
                    <a:pt x="896" y="2099"/>
                  </a:lnTo>
                  <a:lnTo>
                    <a:pt x="894" y="2083"/>
                  </a:lnTo>
                  <a:lnTo>
                    <a:pt x="894" y="2034"/>
                  </a:lnTo>
                  <a:lnTo>
                    <a:pt x="896" y="2018"/>
                  </a:lnTo>
                  <a:lnTo>
                    <a:pt x="904" y="2004"/>
                  </a:lnTo>
                  <a:lnTo>
                    <a:pt x="914" y="1994"/>
                  </a:lnTo>
                  <a:lnTo>
                    <a:pt x="928" y="1986"/>
                  </a:lnTo>
                  <a:lnTo>
                    <a:pt x="944" y="1984"/>
                  </a:lnTo>
                  <a:close/>
                  <a:moveTo>
                    <a:pt x="769" y="1894"/>
                  </a:moveTo>
                  <a:lnTo>
                    <a:pt x="783" y="1897"/>
                  </a:lnTo>
                  <a:lnTo>
                    <a:pt x="795" y="1905"/>
                  </a:lnTo>
                  <a:lnTo>
                    <a:pt x="805" y="1916"/>
                  </a:lnTo>
                  <a:lnTo>
                    <a:pt x="810" y="1930"/>
                  </a:lnTo>
                  <a:lnTo>
                    <a:pt x="810" y="1943"/>
                  </a:lnTo>
                  <a:lnTo>
                    <a:pt x="807" y="1957"/>
                  </a:lnTo>
                  <a:lnTo>
                    <a:pt x="800" y="1970"/>
                  </a:lnTo>
                  <a:lnTo>
                    <a:pt x="616" y="2175"/>
                  </a:lnTo>
                  <a:lnTo>
                    <a:pt x="606" y="2183"/>
                  </a:lnTo>
                  <a:lnTo>
                    <a:pt x="594" y="2188"/>
                  </a:lnTo>
                  <a:lnTo>
                    <a:pt x="581" y="2191"/>
                  </a:lnTo>
                  <a:lnTo>
                    <a:pt x="567" y="2187"/>
                  </a:lnTo>
                  <a:lnTo>
                    <a:pt x="553" y="2180"/>
                  </a:lnTo>
                  <a:lnTo>
                    <a:pt x="439" y="2088"/>
                  </a:lnTo>
                  <a:lnTo>
                    <a:pt x="430" y="2078"/>
                  </a:lnTo>
                  <a:lnTo>
                    <a:pt x="423" y="2065"/>
                  </a:lnTo>
                  <a:lnTo>
                    <a:pt x="422" y="2052"/>
                  </a:lnTo>
                  <a:lnTo>
                    <a:pt x="425" y="2038"/>
                  </a:lnTo>
                  <a:lnTo>
                    <a:pt x="432" y="2024"/>
                  </a:lnTo>
                  <a:lnTo>
                    <a:pt x="442" y="2015"/>
                  </a:lnTo>
                  <a:lnTo>
                    <a:pt x="456" y="2010"/>
                  </a:lnTo>
                  <a:lnTo>
                    <a:pt x="470" y="2007"/>
                  </a:lnTo>
                  <a:lnTo>
                    <a:pt x="484" y="2011"/>
                  </a:lnTo>
                  <a:lnTo>
                    <a:pt x="496" y="2018"/>
                  </a:lnTo>
                  <a:lnTo>
                    <a:pt x="576" y="2082"/>
                  </a:lnTo>
                  <a:lnTo>
                    <a:pt x="731" y="1909"/>
                  </a:lnTo>
                  <a:lnTo>
                    <a:pt x="742" y="1899"/>
                  </a:lnTo>
                  <a:lnTo>
                    <a:pt x="755" y="1895"/>
                  </a:lnTo>
                  <a:lnTo>
                    <a:pt x="769" y="1894"/>
                  </a:lnTo>
                  <a:close/>
                  <a:moveTo>
                    <a:pt x="944" y="1588"/>
                  </a:moveTo>
                  <a:lnTo>
                    <a:pt x="1738" y="1588"/>
                  </a:lnTo>
                  <a:lnTo>
                    <a:pt x="1754" y="1590"/>
                  </a:lnTo>
                  <a:lnTo>
                    <a:pt x="1768" y="1597"/>
                  </a:lnTo>
                  <a:lnTo>
                    <a:pt x="1778" y="1608"/>
                  </a:lnTo>
                  <a:lnTo>
                    <a:pt x="1786" y="1621"/>
                  </a:lnTo>
                  <a:lnTo>
                    <a:pt x="1788" y="1637"/>
                  </a:lnTo>
                  <a:lnTo>
                    <a:pt x="1788" y="1687"/>
                  </a:lnTo>
                  <a:lnTo>
                    <a:pt x="1786" y="1702"/>
                  </a:lnTo>
                  <a:lnTo>
                    <a:pt x="1778" y="1716"/>
                  </a:lnTo>
                  <a:lnTo>
                    <a:pt x="1768" y="1727"/>
                  </a:lnTo>
                  <a:lnTo>
                    <a:pt x="1754" y="1734"/>
                  </a:lnTo>
                  <a:lnTo>
                    <a:pt x="1738" y="1736"/>
                  </a:lnTo>
                  <a:lnTo>
                    <a:pt x="944" y="1736"/>
                  </a:lnTo>
                  <a:lnTo>
                    <a:pt x="928" y="1734"/>
                  </a:lnTo>
                  <a:lnTo>
                    <a:pt x="914" y="1727"/>
                  </a:lnTo>
                  <a:lnTo>
                    <a:pt x="904" y="1716"/>
                  </a:lnTo>
                  <a:lnTo>
                    <a:pt x="896" y="1702"/>
                  </a:lnTo>
                  <a:lnTo>
                    <a:pt x="894" y="1687"/>
                  </a:lnTo>
                  <a:lnTo>
                    <a:pt x="894" y="1637"/>
                  </a:lnTo>
                  <a:lnTo>
                    <a:pt x="896" y="1621"/>
                  </a:lnTo>
                  <a:lnTo>
                    <a:pt x="904" y="1608"/>
                  </a:lnTo>
                  <a:lnTo>
                    <a:pt x="914" y="1597"/>
                  </a:lnTo>
                  <a:lnTo>
                    <a:pt x="928" y="1590"/>
                  </a:lnTo>
                  <a:lnTo>
                    <a:pt x="944" y="1588"/>
                  </a:lnTo>
                  <a:close/>
                  <a:moveTo>
                    <a:pt x="769" y="1472"/>
                  </a:moveTo>
                  <a:lnTo>
                    <a:pt x="783" y="1475"/>
                  </a:lnTo>
                  <a:lnTo>
                    <a:pt x="795" y="1483"/>
                  </a:lnTo>
                  <a:lnTo>
                    <a:pt x="805" y="1494"/>
                  </a:lnTo>
                  <a:lnTo>
                    <a:pt x="810" y="1508"/>
                  </a:lnTo>
                  <a:lnTo>
                    <a:pt x="810" y="1521"/>
                  </a:lnTo>
                  <a:lnTo>
                    <a:pt x="807" y="1535"/>
                  </a:lnTo>
                  <a:lnTo>
                    <a:pt x="800" y="1548"/>
                  </a:lnTo>
                  <a:lnTo>
                    <a:pt x="616" y="1753"/>
                  </a:lnTo>
                  <a:lnTo>
                    <a:pt x="606" y="1761"/>
                  </a:lnTo>
                  <a:lnTo>
                    <a:pt x="594" y="1767"/>
                  </a:lnTo>
                  <a:lnTo>
                    <a:pt x="581" y="1769"/>
                  </a:lnTo>
                  <a:lnTo>
                    <a:pt x="567" y="1765"/>
                  </a:lnTo>
                  <a:lnTo>
                    <a:pt x="553" y="1758"/>
                  </a:lnTo>
                  <a:lnTo>
                    <a:pt x="439" y="1667"/>
                  </a:lnTo>
                  <a:lnTo>
                    <a:pt x="430" y="1656"/>
                  </a:lnTo>
                  <a:lnTo>
                    <a:pt x="423" y="1643"/>
                  </a:lnTo>
                  <a:lnTo>
                    <a:pt x="422" y="1630"/>
                  </a:lnTo>
                  <a:lnTo>
                    <a:pt x="425" y="1615"/>
                  </a:lnTo>
                  <a:lnTo>
                    <a:pt x="432" y="1602"/>
                  </a:lnTo>
                  <a:lnTo>
                    <a:pt x="442" y="1593"/>
                  </a:lnTo>
                  <a:lnTo>
                    <a:pt x="456" y="1588"/>
                  </a:lnTo>
                  <a:lnTo>
                    <a:pt x="470" y="1586"/>
                  </a:lnTo>
                  <a:lnTo>
                    <a:pt x="484" y="1589"/>
                  </a:lnTo>
                  <a:lnTo>
                    <a:pt x="496" y="1596"/>
                  </a:lnTo>
                  <a:lnTo>
                    <a:pt x="576" y="1660"/>
                  </a:lnTo>
                  <a:lnTo>
                    <a:pt x="731" y="1487"/>
                  </a:lnTo>
                  <a:lnTo>
                    <a:pt x="742" y="1477"/>
                  </a:lnTo>
                  <a:lnTo>
                    <a:pt x="755" y="1473"/>
                  </a:lnTo>
                  <a:lnTo>
                    <a:pt x="769" y="1472"/>
                  </a:lnTo>
                  <a:close/>
                  <a:moveTo>
                    <a:pt x="944" y="1140"/>
                  </a:moveTo>
                  <a:lnTo>
                    <a:pt x="1738" y="1140"/>
                  </a:lnTo>
                  <a:lnTo>
                    <a:pt x="1754" y="1144"/>
                  </a:lnTo>
                  <a:lnTo>
                    <a:pt x="1768" y="1150"/>
                  </a:lnTo>
                  <a:lnTo>
                    <a:pt x="1778" y="1162"/>
                  </a:lnTo>
                  <a:lnTo>
                    <a:pt x="1786" y="1175"/>
                  </a:lnTo>
                  <a:lnTo>
                    <a:pt x="1788" y="1190"/>
                  </a:lnTo>
                  <a:lnTo>
                    <a:pt x="1788" y="1240"/>
                  </a:lnTo>
                  <a:lnTo>
                    <a:pt x="1786" y="1255"/>
                  </a:lnTo>
                  <a:lnTo>
                    <a:pt x="1778" y="1269"/>
                  </a:lnTo>
                  <a:lnTo>
                    <a:pt x="1768" y="1280"/>
                  </a:lnTo>
                  <a:lnTo>
                    <a:pt x="1754" y="1287"/>
                  </a:lnTo>
                  <a:lnTo>
                    <a:pt x="1738" y="1290"/>
                  </a:lnTo>
                  <a:lnTo>
                    <a:pt x="944" y="1290"/>
                  </a:lnTo>
                  <a:lnTo>
                    <a:pt x="928" y="1287"/>
                  </a:lnTo>
                  <a:lnTo>
                    <a:pt x="914" y="1280"/>
                  </a:lnTo>
                  <a:lnTo>
                    <a:pt x="904" y="1269"/>
                  </a:lnTo>
                  <a:lnTo>
                    <a:pt x="896" y="1255"/>
                  </a:lnTo>
                  <a:lnTo>
                    <a:pt x="894" y="1240"/>
                  </a:lnTo>
                  <a:lnTo>
                    <a:pt x="894" y="1190"/>
                  </a:lnTo>
                  <a:lnTo>
                    <a:pt x="896" y="1175"/>
                  </a:lnTo>
                  <a:lnTo>
                    <a:pt x="904" y="1162"/>
                  </a:lnTo>
                  <a:lnTo>
                    <a:pt x="914" y="1150"/>
                  </a:lnTo>
                  <a:lnTo>
                    <a:pt x="928" y="1144"/>
                  </a:lnTo>
                  <a:lnTo>
                    <a:pt x="944" y="1140"/>
                  </a:lnTo>
                  <a:close/>
                  <a:moveTo>
                    <a:pt x="769" y="1030"/>
                  </a:moveTo>
                  <a:lnTo>
                    <a:pt x="783" y="1034"/>
                  </a:lnTo>
                  <a:lnTo>
                    <a:pt x="795" y="1042"/>
                  </a:lnTo>
                  <a:lnTo>
                    <a:pt x="805" y="1053"/>
                  </a:lnTo>
                  <a:lnTo>
                    <a:pt x="810" y="1066"/>
                  </a:lnTo>
                  <a:lnTo>
                    <a:pt x="810" y="1081"/>
                  </a:lnTo>
                  <a:lnTo>
                    <a:pt x="807" y="1094"/>
                  </a:lnTo>
                  <a:lnTo>
                    <a:pt x="800" y="1106"/>
                  </a:lnTo>
                  <a:lnTo>
                    <a:pt x="616" y="1312"/>
                  </a:lnTo>
                  <a:lnTo>
                    <a:pt x="606" y="1320"/>
                  </a:lnTo>
                  <a:lnTo>
                    <a:pt x="594" y="1326"/>
                  </a:lnTo>
                  <a:lnTo>
                    <a:pt x="581" y="1327"/>
                  </a:lnTo>
                  <a:lnTo>
                    <a:pt x="567" y="1325"/>
                  </a:lnTo>
                  <a:lnTo>
                    <a:pt x="553" y="1317"/>
                  </a:lnTo>
                  <a:lnTo>
                    <a:pt x="439" y="1226"/>
                  </a:lnTo>
                  <a:lnTo>
                    <a:pt x="430" y="1215"/>
                  </a:lnTo>
                  <a:lnTo>
                    <a:pt x="423" y="1202"/>
                  </a:lnTo>
                  <a:lnTo>
                    <a:pt x="422" y="1188"/>
                  </a:lnTo>
                  <a:lnTo>
                    <a:pt x="425" y="1174"/>
                  </a:lnTo>
                  <a:lnTo>
                    <a:pt x="432" y="1162"/>
                  </a:lnTo>
                  <a:lnTo>
                    <a:pt x="442" y="1152"/>
                  </a:lnTo>
                  <a:lnTo>
                    <a:pt x="456" y="1146"/>
                  </a:lnTo>
                  <a:lnTo>
                    <a:pt x="470" y="1145"/>
                  </a:lnTo>
                  <a:lnTo>
                    <a:pt x="484" y="1147"/>
                  </a:lnTo>
                  <a:lnTo>
                    <a:pt x="496" y="1154"/>
                  </a:lnTo>
                  <a:lnTo>
                    <a:pt x="576" y="1218"/>
                  </a:lnTo>
                  <a:lnTo>
                    <a:pt x="731" y="1046"/>
                  </a:lnTo>
                  <a:lnTo>
                    <a:pt x="742" y="1036"/>
                  </a:lnTo>
                  <a:lnTo>
                    <a:pt x="755" y="1031"/>
                  </a:lnTo>
                  <a:lnTo>
                    <a:pt x="769" y="1030"/>
                  </a:lnTo>
                  <a:close/>
                  <a:moveTo>
                    <a:pt x="150" y="347"/>
                  </a:moveTo>
                  <a:lnTo>
                    <a:pt x="552" y="347"/>
                  </a:lnTo>
                  <a:lnTo>
                    <a:pt x="548" y="372"/>
                  </a:lnTo>
                  <a:lnTo>
                    <a:pt x="547" y="399"/>
                  </a:lnTo>
                  <a:lnTo>
                    <a:pt x="550" y="439"/>
                  </a:lnTo>
                  <a:lnTo>
                    <a:pt x="559" y="477"/>
                  </a:lnTo>
                  <a:lnTo>
                    <a:pt x="574" y="511"/>
                  </a:lnTo>
                  <a:lnTo>
                    <a:pt x="594" y="544"/>
                  </a:lnTo>
                  <a:lnTo>
                    <a:pt x="618" y="572"/>
                  </a:lnTo>
                  <a:lnTo>
                    <a:pt x="648" y="598"/>
                  </a:lnTo>
                  <a:lnTo>
                    <a:pt x="681" y="618"/>
                  </a:lnTo>
                  <a:lnTo>
                    <a:pt x="715" y="632"/>
                  </a:lnTo>
                  <a:lnTo>
                    <a:pt x="753" y="642"/>
                  </a:lnTo>
                  <a:lnTo>
                    <a:pt x="793" y="645"/>
                  </a:lnTo>
                  <a:lnTo>
                    <a:pt x="1442" y="645"/>
                  </a:lnTo>
                  <a:lnTo>
                    <a:pt x="1482" y="642"/>
                  </a:lnTo>
                  <a:lnTo>
                    <a:pt x="1520" y="632"/>
                  </a:lnTo>
                  <a:lnTo>
                    <a:pt x="1555" y="618"/>
                  </a:lnTo>
                  <a:lnTo>
                    <a:pt x="1588" y="597"/>
                  </a:lnTo>
                  <a:lnTo>
                    <a:pt x="1616" y="572"/>
                  </a:lnTo>
                  <a:lnTo>
                    <a:pt x="1641" y="543"/>
                  </a:lnTo>
                  <a:lnTo>
                    <a:pt x="1661" y="510"/>
                  </a:lnTo>
                  <a:lnTo>
                    <a:pt x="1676" y="475"/>
                  </a:lnTo>
                  <a:lnTo>
                    <a:pt x="1686" y="436"/>
                  </a:lnTo>
                  <a:lnTo>
                    <a:pt x="1689" y="396"/>
                  </a:lnTo>
                  <a:lnTo>
                    <a:pt x="1688" y="371"/>
                  </a:lnTo>
                  <a:lnTo>
                    <a:pt x="1683" y="347"/>
                  </a:lnTo>
                  <a:lnTo>
                    <a:pt x="1987" y="347"/>
                  </a:lnTo>
                  <a:lnTo>
                    <a:pt x="2029" y="349"/>
                  </a:lnTo>
                  <a:lnTo>
                    <a:pt x="2067" y="356"/>
                  </a:lnTo>
                  <a:lnTo>
                    <a:pt x="2101" y="366"/>
                  </a:lnTo>
                  <a:lnTo>
                    <a:pt x="2132" y="379"/>
                  </a:lnTo>
                  <a:lnTo>
                    <a:pt x="2159" y="396"/>
                  </a:lnTo>
                  <a:lnTo>
                    <a:pt x="2182" y="416"/>
                  </a:lnTo>
                  <a:lnTo>
                    <a:pt x="2201" y="438"/>
                  </a:lnTo>
                  <a:lnTo>
                    <a:pt x="2215" y="462"/>
                  </a:lnTo>
                  <a:lnTo>
                    <a:pt x="2226" y="488"/>
                  </a:lnTo>
                  <a:lnTo>
                    <a:pt x="2233" y="517"/>
                  </a:lnTo>
                  <a:lnTo>
                    <a:pt x="2235" y="546"/>
                  </a:lnTo>
                  <a:lnTo>
                    <a:pt x="2235" y="2036"/>
                  </a:lnTo>
                  <a:lnTo>
                    <a:pt x="2210" y="2035"/>
                  </a:lnTo>
                  <a:lnTo>
                    <a:pt x="2186" y="2034"/>
                  </a:lnTo>
                  <a:lnTo>
                    <a:pt x="2118" y="2037"/>
                  </a:lnTo>
                  <a:lnTo>
                    <a:pt x="2051" y="2045"/>
                  </a:lnTo>
                  <a:lnTo>
                    <a:pt x="1987" y="2060"/>
                  </a:lnTo>
                  <a:lnTo>
                    <a:pt x="1987" y="893"/>
                  </a:lnTo>
                  <a:lnTo>
                    <a:pt x="249" y="893"/>
                  </a:lnTo>
                  <a:lnTo>
                    <a:pt x="249" y="2876"/>
                  </a:lnTo>
                  <a:lnTo>
                    <a:pt x="1394" y="2876"/>
                  </a:lnTo>
                  <a:lnTo>
                    <a:pt x="1400" y="2942"/>
                  </a:lnTo>
                  <a:lnTo>
                    <a:pt x="1412" y="3005"/>
                  </a:lnTo>
                  <a:lnTo>
                    <a:pt x="1429" y="3066"/>
                  </a:lnTo>
                  <a:lnTo>
                    <a:pt x="1450" y="3125"/>
                  </a:lnTo>
                  <a:lnTo>
                    <a:pt x="199" y="3125"/>
                  </a:lnTo>
                  <a:lnTo>
                    <a:pt x="163" y="3122"/>
                  </a:lnTo>
                  <a:lnTo>
                    <a:pt x="130" y="3112"/>
                  </a:lnTo>
                  <a:lnTo>
                    <a:pt x="99" y="3097"/>
                  </a:lnTo>
                  <a:lnTo>
                    <a:pt x="71" y="3079"/>
                  </a:lnTo>
                  <a:lnTo>
                    <a:pt x="47" y="3054"/>
                  </a:lnTo>
                  <a:lnTo>
                    <a:pt x="27" y="3027"/>
                  </a:lnTo>
                  <a:lnTo>
                    <a:pt x="13" y="2995"/>
                  </a:lnTo>
                  <a:lnTo>
                    <a:pt x="3" y="2962"/>
                  </a:lnTo>
                  <a:lnTo>
                    <a:pt x="0" y="2926"/>
                  </a:lnTo>
                  <a:lnTo>
                    <a:pt x="0" y="546"/>
                  </a:lnTo>
                  <a:lnTo>
                    <a:pt x="3" y="513"/>
                  </a:lnTo>
                  <a:lnTo>
                    <a:pt x="9" y="483"/>
                  </a:lnTo>
                  <a:lnTo>
                    <a:pt x="21" y="455"/>
                  </a:lnTo>
                  <a:lnTo>
                    <a:pt x="36" y="428"/>
                  </a:lnTo>
                  <a:lnTo>
                    <a:pt x="53" y="405"/>
                  </a:lnTo>
                  <a:lnTo>
                    <a:pt x="71" y="385"/>
                  </a:lnTo>
                  <a:lnTo>
                    <a:pt x="91" y="369"/>
                  </a:lnTo>
                  <a:lnTo>
                    <a:pt x="111" y="358"/>
                  </a:lnTo>
                  <a:lnTo>
                    <a:pt x="131" y="349"/>
                  </a:lnTo>
                  <a:lnTo>
                    <a:pt x="150" y="347"/>
                  </a:lnTo>
                  <a:close/>
                  <a:moveTo>
                    <a:pt x="1118" y="99"/>
                  </a:moveTo>
                  <a:lnTo>
                    <a:pt x="1098" y="102"/>
                  </a:lnTo>
                  <a:lnTo>
                    <a:pt x="1080" y="109"/>
                  </a:lnTo>
                  <a:lnTo>
                    <a:pt x="1065" y="121"/>
                  </a:lnTo>
                  <a:lnTo>
                    <a:pt x="1053" y="136"/>
                  </a:lnTo>
                  <a:lnTo>
                    <a:pt x="1046" y="154"/>
                  </a:lnTo>
                  <a:lnTo>
                    <a:pt x="1043" y="174"/>
                  </a:lnTo>
                  <a:lnTo>
                    <a:pt x="1046" y="194"/>
                  </a:lnTo>
                  <a:lnTo>
                    <a:pt x="1053" y="211"/>
                  </a:lnTo>
                  <a:lnTo>
                    <a:pt x="1065" y="226"/>
                  </a:lnTo>
                  <a:lnTo>
                    <a:pt x="1080" y="238"/>
                  </a:lnTo>
                  <a:lnTo>
                    <a:pt x="1098" y="245"/>
                  </a:lnTo>
                  <a:lnTo>
                    <a:pt x="1118" y="248"/>
                  </a:lnTo>
                  <a:lnTo>
                    <a:pt x="1138" y="245"/>
                  </a:lnTo>
                  <a:lnTo>
                    <a:pt x="1156" y="238"/>
                  </a:lnTo>
                  <a:lnTo>
                    <a:pt x="1170" y="226"/>
                  </a:lnTo>
                  <a:lnTo>
                    <a:pt x="1182" y="211"/>
                  </a:lnTo>
                  <a:lnTo>
                    <a:pt x="1189" y="194"/>
                  </a:lnTo>
                  <a:lnTo>
                    <a:pt x="1193" y="174"/>
                  </a:lnTo>
                  <a:lnTo>
                    <a:pt x="1189" y="154"/>
                  </a:lnTo>
                  <a:lnTo>
                    <a:pt x="1182" y="136"/>
                  </a:lnTo>
                  <a:lnTo>
                    <a:pt x="1170" y="121"/>
                  </a:lnTo>
                  <a:lnTo>
                    <a:pt x="1156" y="109"/>
                  </a:lnTo>
                  <a:lnTo>
                    <a:pt x="1138" y="102"/>
                  </a:lnTo>
                  <a:lnTo>
                    <a:pt x="1118" y="99"/>
                  </a:lnTo>
                  <a:close/>
                  <a:moveTo>
                    <a:pt x="1116" y="0"/>
                  </a:moveTo>
                  <a:lnTo>
                    <a:pt x="1120" y="0"/>
                  </a:lnTo>
                  <a:lnTo>
                    <a:pt x="1150" y="3"/>
                  </a:lnTo>
                  <a:lnTo>
                    <a:pt x="1180" y="11"/>
                  </a:lnTo>
                  <a:lnTo>
                    <a:pt x="1206" y="23"/>
                  </a:lnTo>
                  <a:lnTo>
                    <a:pt x="1230" y="40"/>
                  </a:lnTo>
                  <a:lnTo>
                    <a:pt x="1252" y="61"/>
                  </a:lnTo>
                  <a:lnTo>
                    <a:pt x="1268" y="85"/>
                  </a:lnTo>
                  <a:lnTo>
                    <a:pt x="1281" y="112"/>
                  </a:lnTo>
                  <a:lnTo>
                    <a:pt x="1288" y="141"/>
                  </a:lnTo>
                  <a:lnTo>
                    <a:pt x="1292" y="171"/>
                  </a:lnTo>
                  <a:lnTo>
                    <a:pt x="1292" y="174"/>
                  </a:lnTo>
                  <a:lnTo>
                    <a:pt x="1294" y="194"/>
                  </a:lnTo>
                  <a:lnTo>
                    <a:pt x="1302" y="211"/>
                  </a:lnTo>
                  <a:lnTo>
                    <a:pt x="1314" y="226"/>
                  </a:lnTo>
                  <a:lnTo>
                    <a:pt x="1328" y="238"/>
                  </a:lnTo>
                  <a:lnTo>
                    <a:pt x="1345" y="245"/>
                  </a:lnTo>
                  <a:lnTo>
                    <a:pt x="1365" y="248"/>
                  </a:lnTo>
                  <a:lnTo>
                    <a:pt x="1442" y="248"/>
                  </a:lnTo>
                  <a:lnTo>
                    <a:pt x="1472" y="251"/>
                  </a:lnTo>
                  <a:lnTo>
                    <a:pt x="1499" y="260"/>
                  </a:lnTo>
                  <a:lnTo>
                    <a:pt x="1524" y="274"/>
                  </a:lnTo>
                  <a:lnTo>
                    <a:pt x="1547" y="291"/>
                  </a:lnTo>
                  <a:lnTo>
                    <a:pt x="1564" y="312"/>
                  </a:lnTo>
                  <a:lnTo>
                    <a:pt x="1578" y="338"/>
                  </a:lnTo>
                  <a:lnTo>
                    <a:pt x="1587" y="366"/>
                  </a:lnTo>
                  <a:lnTo>
                    <a:pt x="1590" y="396"/>
                  </a:lnTo>
                  <a:lnTo>
                    <a:pt x="1590" y="399"/>
                  </a:lnTo>
                  <a:lnTo>
                    <a:pt x="1587" y="428"/>
                  </a:lnTo>
                  <a:lnTo>
                    <a:pt x="1578" y="456"/>
                  </a:lnTo>
                  <a:lnTo>
                    <a:pt x="1564" y="481"/>
                  </a:lnTo>
                  <a:lnTo>
                    <a:pt x="1547" y="503"/>
                  </a:lnTo>
                  <a:lnTo>
                    <a:pt x="1524" y="521"/>
                  </a:lnTo>
                  <a:lnTo>
                    <a:pt x="1499" y="534"/>
                  </a:lnTo>
                  <a:lnTo>
                    <a:pt x="1472" y="543"/>
                  </a:lnTo>
                  <a:lnTo>
                    <a:pt x="1442" y="546"/>
                  </a:lnTo>
                  <a:lnTo>
                    <a:pt x="793" y="546"/>
                  </a:lnTo>
                  <a:lnTo>
                    <a:pt x="764" y="543"/>
                  </a:lnTo>
                  <a:lnTo>
                    <a:pt x="736" y="534"/>
                  </a:lnTo>
                  <a:lnTo>
                    <a:pt x="711" y="521"/>
                  </a:lnTo>
                  <a:lnTo>
                    <a:pt x="689" y="503"/>
                  </a:lnTo>
                  <a:lnTo>
                    <a:pt x="671" y="481"/>
                  </a:lnTo>
                  <a:lnTo>
                    <a:pt x="657" y="456"/>
                  </a:lnTo>
                  <a:lnTo>
                    <a:pt x="649" y="428"/>
                  </a:lnTo>
                  <a:lnTo>
                    <a:pt x="646" y="399"/>
                  </a:lnTo>
                  <a:lnTo>
                    <a:pt x="646" y="396"/>
                  </a:lnTo>
                  <a:lnTo>
                    <a:pt x="649" y="366"/>
                  </a:lnTo>
                  <a:lnTo>
                    <a:pt x="657" y="338"/>
                  </a:lnTo>
                  <a:lnTo>
                    <a:pt x="671" y="312"/>
                  </a:lnTo>
                  <a:lnTo>
                    <a:pt x="689" y="291"/>
                  </a:lnTo>
                  <a:lnTo>
                    <a:pt x="711" y="274"/>
                  </a:lnTo>
                  <a:lnTo>
                    <a:pt x="736" y="260"/>
                  </a:lnTo>
                  <a:lnTo>
                    <a:pt x="764" y="251"/>
                  </a:lnTo>
                  <a:lnTo>
                    <a:pt x="793" y="248"/>
                  </a:lnTo>
                  <a:lnTo>
                    <a:pt x="870" y="248"/>
                  </a:lnTo>
                  <a:lnTo>
                    <a:pt x="889" y="245"/>
                  </a:lnTo>
                  <a:lnTo>
                    <a:pt x="907" y="238"/>
                  </a:lnTo>
                  <a:lnTo>
                    <a:pt x="922" y="226"/>
                  </a:lnTo>
                  <a:lnTo>
                    <a:pt x="933" y="211"/>
                  </a:lnTo>
                  <a:lnTo>
                    <a:pt x="941" y="194"/>
                  </a:lnTo>
                  <a:lnTo>
                    <a:pt x="944" y="174"/>
                  </a:lnTo>
                  <a:lnTo>
                    <a:pt x="944" y="171"/>
                  </a:lnTo>
                  <a:lnTo>
                    <a:pt x="947" y="141"/>
                  </a:lnTo>
                  <a:lnTo>
                    <a:pt x="954" y="112"/>
                  </a:lnTo>
                  <a:lnTo>
                    <a:pt x="967" y="85"/>
                  </a:lnTo>
                  <a:lnTo>
                    <a:pt x="984" y="61"/>
                  </a:lnTo>
                  <a:lnTo>
                    <a:pt x="1005" y="40"/>
                  </a:lnTo>
                  <a:lnTo>
                    <a:pt x="1029" y="23"/>
                  </a:lnTo>
                  <a:lnTo>
                    <a:pt x="1056" y="11"/>
                  </a:lnTo>
                  <a:lnTo>
                    <a:pt x="1085" y="3"/>
                  </a:lnTo>
                  <a:lnTo>
                    <a:pt x="1116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781AA36-28A4-4780-9C03-8801376B58C6}"/>
                </a:ext>
              </a:extLst>
            </p:cNvPr>
            <p:cNvSpPr/>
            <p:nvPr/>
          </p:nvSpPr>
          <p:spPr>
            <a:xfrm>
              <a:off x="5792069" y="3009245"/>
              <a:ext cx="607859" cy="3034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Step. 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63BEDA-1980-4F89-8B40-B0C9D33E8B87}"/>
                </a:ext>
              </a:extLst>
            </p:cNvPr>
            <p:cNvSpPr txBox="1"/>
            <p:nvPr/>
          </p:nvSpPr>
          <p:spPr>
            <a:xfrm>
              <a:off x="6574724" y="2790347"/>
              <a:ext cx="4750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▶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489A01-A8A3-4115-95C6-DB2599CBEA70}"/>
                </a:ext>
              </a:extLst>
            </p:cNvPr>
            <p:cNvSpPr txBox="1"/>
            <p:nvPr/>
          </p:nvSpPr>
          <p:spPr>
            <a:xfrm>
              <a:off x="5146126" y="2793492"/>
              <a:ext cx="4750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◀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40F6D64-FBD4-4681-86F5-EC317C8A7BA6}"/>
              </a:ext>
            </a:extLst>
          </p:cNvPr>
          <p:cNvSpPr txBox="1"/>
          <p:nvPr/>
        </p:nvSpPr>
        <p:spPr>
          <a:xfrm>
            <a:off x="6317630" y="2631544"/>
            <a:ext cx="1734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담당 모듈 별</a:t>
            </a:r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 업무 배정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FC04DF-EFA0-4EDF-BC60-BAF6F8CDDA4E}"/>
              </a:ext>
            </a:extLst>
          </p:cNvPr>
          <p:cNvSpPr txBox="1"/>
          <p:nvPr/>
        </p:nvSpPr>
        <p:spPr>
          <a:xfrm>
            <a:off x="6393782" y="5489786"/>
            <a:ext cx="1702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운영 서버 </a:t>
            </a:r>
            <a:r>
              <a:rPr lang="ko-KR" altLang="en-US" sz="1200" dirty="0" err="1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무중단</a:t>
            </a:r>
            <a:endParaRPr lang="en-US" altLang="ko-KR" sz="1200" dirty="0">
              <a:solidFill>
                <a:schemeClr val="tx1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배포 및 검증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A0CD142-015D-4F5B-B108-3EDA4FF6EBF7}"/>
              </a:ext>
            </a:extLst>
          </p:cNvPr>
          <p:cNvCxnSpPr>
            <a:cxnSpLocks/>
          </p:cNvCxnSpPr>
          <p:nvPr/>
        </p:nvCxnSpPr>
        <p:spPr>
          <a:xfrm>
            <a:off x="6484775" y="3326455"/>
            <a:ext cx="471758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34A3587-0CBE-46DA-ACE9-2B038A3C9F8E}"/>
              </a:ext>
            </a:extLst>
          </p:cNvPr>
          <p:cNvSpPr txBox="1"/>
          <p:nvPr/>
        </p:nvSpPr>
        <p:spPr>
          <a:xfrm>
            <a:off x="360000" y="1188000"/>
            <a:ext cx="2551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0" i="0" dirty="0">
                <a:solidFill>
                  <a:srgbClr val="4D5156"/>
                </a:solidFill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E-commerce</a:t>
            </a:r>
            <a:endParaRPr lang="en-US" altLang="ko-KR" sz="2000" dirty="0">
              <a:latin typeface="나눔명조OTF ExtraBold" panose="02020603020101020101" pitchFamily="18" charset="-127"/>
              <a:ea typeface="나눔명조OTF ExtraBold" panose="02020603020101020101" pitchFamily="18" charset="-127"/>
            </a:endParaRPr>
          </a:p>
        </p:txBody>
      </p:sp>
      <p:sp>
        <p:nvSpPr>
          <p:cNvPr id="38" name="사각형: 둥근 모서리 1">
            <a:extLst>
              <a:ext uri="{FF2B5EF4-FFF2-40B4-BE49-F238E27FC236}">
                <a16:creationId xmlns:a16="http://schemas.microsoft.com/office/drawing/2014/main" id="{E4176AF5-9ED7-4F30-B7AE-1F53C7A17D62}"/>
              </a:ext>
            </a:extLst>
          </p:cNvPr>
          <p:cNvSpPr/>
          <p:nvPr/>
        </p:nvSpPr>
        <p:spPr>
          <a:xfrm>
            <a:off x="6432924" y="3585202"/>
            <a:ext cx="4802142" cy="1172636"/>
          </a:xfrm>
          <a:prstGeom prst="roundRect">
            <a:avLst>
              <a:gd name="adj" fmla="val 8991"/>
            </a:avLst>
          </a:prstGeom>
          <a:solidFill>
            <a:srgbClr val="F7F6F4"/>
          </a:solidFill>
          <a:ln>
            <a:noFill/>
          </a:ln>
          <a:effectLst>
            <a:outerShdw blurRad="254000" dist="38100" dir="5400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F4CA02B-7E63-4BE8-B610-377B61257BBB}"/>
              </a:ext>
            </a:extLst>
          </p:cNvPr>
          <p:cNvGrpSpPr/>
          <p:nvPr/>
        </p:nvGrpSpPr>
        <p:grpSpPr>
          <a:xfrm>
            <a:off x="7914788" y="3697183"/>
            <a:ext cx="1663200" cy="777600"/>
            <a:chOff x="5146126" y="3946513"/>
            <a:chExt cx="1903604" cy="889000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9A7EDFD-5A47-4BDD-B115-894321B3C188}"/>
                </a:ext>
              </a:extLst>
            </p:cNvPr>
            <p:cNvSpPr/>
            <p:nvPr/>
          </p:nvSpPr>
          <p:spPr>
            <a:xfrm>
              <a:off x="5651500" y="3946513"/>
              <a:ext cx="889000" cy="889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12C2BA1-1DE4-48B4-8BF5-8EBA53100F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65894" y="4119240"/>
              <a:ext cx="297256" cy="364946"/>
            </a:xfrm>
            <a:custGeom>
              <a:avLst/>
              <a:gdLst>
                <a:gd name="T0" fmla="*/ 1930 w 2831"/>
                <a:gd name="T1" fmla="*/ 2787 h 3472"/>
                <a:gd name="T2" fmla="*/ 1791 w 2831"/>
                <a:gd name="T3" fmla="*/ 2855 h 3472"/>
                <a:gd name="T4" fmla="*/ 2114 w 2831"/>
                <a:gd name="T5" fmla="*/ 3172 h 3472"/>
                <a:gd name="T6" fmla="*/ 2628 w 2831"/>
                <a:gd name="T7" fmla="*/ 2656 h 3472"/>
                <a:gd name="T8" fmla="*/ 2538 w 2831"/>
                <a:gd name="T9" fmla="*/ 2529 h 3472"/>
                <a:gd name="T10" fmla="*/ 1440 w 2831"/>
                <a:gd name="T11" fmla="*/ 2529 h 3472"/>
                <a:gd name="T12" fmla="*/ 914 w 2831"/>
                <a:gd name="T13" fmla="*/ 2569 h 3472"/>
                <a:gd name="T14" fmla="*/ 928 w 2831"/>
                <a:gd name="T15" fmla="*/ 2433 h 3472"/>
                <a:gd name="T16" fmla="*/ 807 w 2831"/>
                <a:gd name="T17" fmla="*/ 2382 h 3472"/>
                <a:gd name="T18" fmla="*/ 439 w 2831"/>
                <a:gd name="T19" fmla="*/ 2514 h 3472"/>
                <a:gd name="T20" fmla="*/ 470 w 2831"/>
                <a:gd name="T21" fmla="*/ 2433 h 3472"/>
                <a:gd name="T22" fmla="*/ 2186 w 2831"/>
                <a:gd name="T23" fmla="*/ 2182 h 3472"/>
                <a:gd name="T24" fmla="*/ 2642 w 2831"/>
                <a:gd name="T25" fmla="*/ 2371 h 3472"/>
                <a:gd name="T26" fmla="*/ 2831 w 2831"/>
                <a:gd name="T27" fmla="*/ 2827 h 3472"/>
                <a:gd name="T28" fmla="*/ 2642 w 2831"/>
                <a:gd name="T29" fmla="*/ 3283 h 3472"/>
                <a:gd name="T30" fmla="*/ 2186 w 2831"/>
                <a:gd name="T31" fmla="*/ 3472 h 3472"/>
                <a:gd name="T32" fmla="*/ 1729 w 2831"/>
                <a:gd name="T33" fmla="*/ 3283 h 3472"/>
                <a:gd name="T34" fmla="*/ 1540 w 2831"/>
                <a:gd name="T35" fmla="*/ 2827 h 3472"/>
                <a:gd name="T36" fmla="*/ 1729 w 2831"/>
                <a:gd name="T37" fmla="*/ 2371 h 3472"/>
                <a:gd name="T38" fmla="*/ 2186 w 2831"/>
                <a:gd name="T39" fmla="*/ 2182 h 3472"/>
                <a:gd name="T40" fmla="*/ 1540 w 2831"/>
                <a:gd name="T41" fmla="*/ 2083 h 3472"/>
                <a:gd name="T42" fmla="*/ 914 w 2831"/>
                <a:gd name="T43" fmla="*/ 2123 h 3472"/>
                <a:gd name="T44" fmla="*/ 928 w 2831"/>
                <a:gd name="T45" fmla="*/ 1986 h 3472"/>
                <a:gd name="T46" fmla="*/ 807 w 2831"/>
                <a:gd name="T47" fmla="*/ 1957 h 3472"/>
                <a:gd name="T48" fmla="*/ 439 w 2831"/>
                <a:gd name="T49" fmla="*/ 2088 h 3472"/>
                <a:gd name="T50" fmla="*/ 470 w 2831"/>
                <a:gd name="T51" fmla="*/ 2007 h 3472"/>
                <a:gd name="T52" fmla="*/ 944 w 2831"/>
                <a:gd name="T53" fmla="*/ 1588 h 3472"/>
                <a:gd name="T54" fmla="*/ 1786 w 2831"/>
                <a:gd name="T55" fmla="*/ 1702 h 3472"/>
                <a:gd name="T56" fmla="*/ 904 w 2831"/>
                <a:gd name="T57" fmla="*/ 1716 h 3472"/>
                <a:gd name="T58" fmla="*/ 944 w 2831"/>
                <a:gd name="T59" fmla="*/ 1588 h 3472"/>
                <a:gd name="T60" fmla="*/ 800 w 2831"/>
                <a:gd name="T61" fmla="*/ 1548 h 3472"/>
                <a:gd name="T62" fmla="*/ 430 w 2831"/>
                <a:gd name="T63" fmla="*/ 1656 h 3472"/>
                <a:gd name="T64" fmla="*/ 484 w 2831"/>
                <a:gd name="T65" fmla="*/ 1589 h 3472"/>
                <a:gd name="T66" fmla="*/ 1738 w 2831"/>
                <a:gd name="T67" fmla="*/ 1140 h 3472"/>
                <a:gd name="T68" fmla="*/ 1778 w 2831"/>
                <a:gd name="T69" fmla="*/ 1269 h 3472"/>
                <a:gd name="T70" fmla="*/ 896 w 2831"/>
                <a:gd name="T71" fmla="*/ 1255 h 3472"/>
                <a:gd name="T72" fmla="*/ 769 w 2831"/>
                <a:gd name="T73" fmla="*/ 1030 h 3472"/>
                <a:gd name="T74" fmla="*/ 616 w 2831"/>
                <a:gd name="T75" fmla="*/ 1312 h 3472"/>
                <a:gd name="T76" fmla="*/ 423 w 2831"/>
                <a:gd name="T77" fmla="*/ 1202 h 3472"/>
                <a:gd name="T78" fmla="*/ 496 w 2831"/>
                <a:gd name="T79" fmla="*/ 1154 h 3472"/>
                <a:gd name="T80" fmla="*/ 548 w 2831"/>
                <a:gd name="T81" fmla="*/ 372 h 3472"/>
                <a:gd name="T82" fmla="*/ 681 w 2831"/>
                <a:gd name="T83" fmla="*/ 618 h 3472"/>
                <a:gd name="T84" fmla="*/ 1588 w 2831"/>
                <a:gd name="T85" fmla="*/ 597 h 3472"/>
                <a:gd name="T86" fmla="*/ 1683 w 2831"/>
                <a:gd name="T87" fmla="*/ 347 h 3472"/>
                <a:gd name="T88" fmla="*/ 2201 w 2831"/>
                <a:gd name="T89" fmla="*/ 438 h 3472"/>
                <a:gd name="T90" fmla="*/ 2118 w 2831"/>
                <a:gd name="T91" fmla="*/ 2037 h 3472"/>
                <a:gd name="T92" fmla="*/ 1412 w 2831"/>
                <a:gd name="T93" fmla="*/ 3005 h 3472"/>
                <a:gd name="T94" fmla="*/ 47 w 2831"/>
                <a:gd name="T95" fmla="*/ 3054 h 3472"/>
                <a:gd name="T96" fmla="*/ 21 w 2831"/>
                <a:gd name="T97" fmla="*/ 455 h 3472"/>
                <a:gd name="T98" fmla="*/ 1118 w 2831"/>
                <a:gd name="T99" fmla="*/ 99 h 3472"/>
                <a:gd name="T100" fmla="*/ 1053 w 2831"/>
                <a:gd name="T101" fmla="*/ 211 h 3472"/>
                <a:gd name="T102" fmla="*/ 1182 w 2831"/>
                <a:gd name="T103" fmla="*/ 211 h 3472"/>
                <a:gd name="T104" fmla="*/ 1118 w 2831"/>
                <a:gd name="T105" fmla="*/ 99 h 3472"/>
                <a:gd name="T106" fmla="*/ 1268 w 2831"/>
                <a:gd name="T107" fmla="*/ 85 h 3472"/>
                <a:gd name="T108" fmla="*/ 1328 w 2831"/>
                <a:gd name="T109" fmla="*/ 238 h 3472"/>
                <a:gd name="T110" fmla="*/ 1564 w 2831"/>
                <a:gd name="T111" fmla="*/ 312 h 3472"/>
                <a:gd name="T112" fmla="*/ 1547 w 2831"/>
                <a:gd name="T113" fmla="*/ 503 h 3472"/>
                <a:gd name="T114" fmla="*/ 711 w 2831"/>
                <a:gd name="T115" fmla="*/ 521 h 3472"/>
                <a:gd name="T116" fmla="*/ 657 w 2831"/>
                <a:gd name="T117" fmla="*/ 338 h 3472"/>
                <a:gd name="T118" fmla="*/ 889 w 2831"/>
                <a:gd name="T119" fmla="*/ 245 h 3472"/>
                <a:gd name="T120" fmla="*/ 954 w 2831"/>
                <a:gd name="T121" fmla="*/ 112 h 3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31" h="3472">
                  <a:moveTo>
                    <a:pt x="2538" y="2529"/>
                  </a:moveTo>
                  <a:lnTo>
                    <a:pt x="2517" y="2531"/>
                  </a:lnTo>
                  <a:lnTo>
                    <a:pt x="2496" y="2537"/>
                  </a:lnTo>
                  <a:lnTo>
                    <a:pt x="2476" y="2547"/>
                  </a:lnTo>
                  <a:lnTo>
                    <a:pt x="2459" y="2563"/>
                  </a:lnTo>
                  <a:lnTo>
                    <a:pt x="2124" y="2939"/>
                  </a:lnTo>
                  <a:lnTo>
                    <a:pt x="1950" y="2800"/>
                  </a:lnTo>
                  <a:lnTo>
                    <a:pt x="1930" y="2787"/>
                  </a:lnTo>
                  <a:lnTo>
                    <a:pt x="1909" y="2780"/>
                  </a:lnTo>
                  <a:lnTo>
                    <a:pt x="1888" y="2778"/>
                  </a:lnTo>
                  <a:lnTo>
                    <a:pt x="1866" y="2780"/>
                  </a:lnTo>
                  <a:lnTo>
                    <a:pt x="1845" y="2787"/>
                  </a:lnTo>
                  <a:lnTo>
                    <a:pt x="1826" y="2799"/>
                  </a:lnTo>
                  <a:lnTo>
                    <a:pt x="1810" y="2814"/>
                  </a:lnTo>
                  <a:lnTo>
                    <a:pt x="1797" y="2834"/>
                  </a:lnTo>
                  <a:lnTo>
                    <a:pt x="1791" y="2855"/>
                  </a:lnTo>
                  <a:lnTo>
                    <a:pt x="1788" y="2876"/>
                  </a:lnTo>
                  <a:lnTo>
                    <a:pt x="1791" y="2899"/>
                  </a:lnTo>
                  <a:lnTo>
                    <a:pt x="1797" y="2920"/>
                  </a:lnTo>
                  <a:lnTo>
                    <a:pt x="1809" y="2938"/>
                  </a:lnTo>
                  <a:lnTo>
                    <a:pt x="1826" y="2954"/>
                  </a:lnTo>
                  <a:lnTo>
                    <a:pt x="2073" y="3152"/>
                  </a:lnTo>
                  <a:lnTo>
                    <a:pt x="2093" y="3165"/>
                  </a:lnTo>
                  <a:lnTo>
                    <a:pt x="2114" y="3172"/>
                  </a:lnTo>
                  <a:lnTo>
                    <a:pt x="2135" y="3174"/>
                  </a:lnTo>
                  <a:lnTo>
                    <a:pt x="2156" y="3172"/>
                  </a:lnTo>
                  <a:lnTo>
                    <a:pt x="2175" y="3166"/>
                  </a:lnTo>
                  <a:lnTo>
                    <a:pt x="2194" y="3155"/>
                  </a:lnTo>
                  <a:lnTo>
                    <a:pt x="2210" y="3142"/>
                  </a:lnTo>
                  <a:lnTo>
                    <a:pt x="2607" y="2694"/>
                  </a:lnTo>
                  <a:lnTo>
                    <a:pt x="2620" y="2676"/>
                  </a:lnTo>
                  <a:lnTo>
                    <a:pt x="2628" y="2656"/>
                  </a:lnTo>
                  <a:lnTo>
                    <a:pt x="2633" y="2633"/>
                  </a:lnTo>
                  <a:lnTo>
                    <a:pt x="2631" y="2612"/>
                  </a:lnTo>
                  <a:lnTo>
                    <a:pt x="2625" y="2591"/>
                  </a:lnTo>
                  <a:lnTo>
                    <a:pt x="2615" y="2571"/>
                  </a:lnTo>
                  <a:lnTo>
                    <a:pt x="2599" y="2555"/>
                  </a:lnTo>
                  <a:lnTo>
                    <a:pt x="2580" y="2542"/>
                  </a:lnTo>
                  <a:lnTo>
                    <a:pt x="2560" y="2534"/>
                  </a:lnTo>
                  <a:lnTo>
                    <a:pt x="2538" y="2529"/>
                  </a:lnTo>
                  <a:close/>
                  <a:moveTo>
                    <a:pt x="944" y="2430"/>
                  </a:moveTo>
                  <a:lnTo>
                    <a:pt x="1391" y="2430"/>
                  </a:lnTo>
                  <a:lnTo>
                    <a:pt x="1406" y="2433"/>
                  </a:lnTo>
                  <a:lnTo>
                    <a:pt x="1420" y="2440"/>
                  </a:lnTo>
                  <a:lnTo>
                    <a:pt x="1431" y="2450"/>
                  </a:lnTo>
                  <a:lnTo>
                    <a:pt x="1438" y="2464"/>
                  </a:lnTo>
                  <a:lnTo>
                    <a:pt x="1440" y="2480"/>
                  </a:lnTo>
                  <a:lnTo>
                    <a:pt x="1440" y="2529"/>
                  </a:lnTo>
                  <a:lnTo>
                    <a:pt x="1438" y="2545"/>
                  </a:lnTo>
                  <a:lnTo>
                    <a:pt x="1431" y="2559"/>
                  </a:lnTo>
                  <a:lnTo>
                    <a:pt x="1420" y="2569"/>
                  </a:lnTo>
                  <a:lnTo>
                    <a:pt x="1406" y="2577"/>
                  </a:lnTo>
                  <a:lnTo>
                    <a:pt x="1391" y="2579"/>
                  </a:lnTo>
                  <a:lnTo>
                    <a:pt x="944" y="2579"/>
                  </a:lnTo>
                  <a:lnTo>
                    <a:pt x="928" y="2577"/>
                  </a:lnTo>
                  <a:lnTo>
                    <a:pt x="914" y="2569"/>
                  </a:lnTo>
                  <a:lnTo>
                    <a:pt x="904" y="2559"/>
                  </a:lnTo>
                  <a:lnTo>
                    <a:pt x="896" y="2545"/>
                  </a:lnTo>
                  <a:lnTo>
                    <a:pt x="894" y="2529"/>
                  </a:lnTo>
                  <a:lnTo>
                    <a:pt x="894" y="2480"/>
                  </a:lnTo>
                  <a:lnTo>
                    <a:pt x="896" y="2464"/>
                  </a:lnTo>
                  <a:lnTo>
                    <a:pt x="904" y="2450"/>
                  </a:lnTo>
                  <a:lnTo>
                    <a:pt x="914" y="2440"/>
                  </a:lnTo>
                  <a:lnTo>
                    <a:pt x="928" y="2433"/>
                  </a:lnTo>
                  <a:lnTo>
                    <a:pt x="944" y="2430"/>
                  </a:lnTo>
                  <a:close/>
                  <a:moveTo>
                    <a:pt x="769" y="2319"/>
                  </a:moveTo>
                  <a:lnTo>
                    <a:pt x="783" y="2322"/>
                  </a:lnTo>
                  <a:lnTo>
                    <a:pt x="795" y="2330"/>
                  </a:lnTo>
                  <a:lnTo>
                    <a:pt x="805" y="2341"/>
                  </a:lnTo>
                  <a:lnTo>
                    <a:pt x="810" y="2355"/>
                  </a:lnTo>
                  <a:lnTo>
                    <a:pt x="810" y="2368"/>
                  </a:lnTo>
                  <a:lnTo>
                    <a:pt x="807" y="2382"/>
                  </a:lnTo>
                  <a:lnTo>
                    <a:pt x="800" y="2395"/>
                  </a:lnTo>
                  <a:lnTo>
                    <a:pt x="616" y="2600"/>
                  </a:lnTo>
                  <a:lnTo>
                    <a:pt x="606" y="2608"/>
                  </a:lnTo>
                  <a:lnTo>
                    <a:pt x="594" y="2613"/>
                  </a:lnTo>
                  <a:lnTo>
                    <a:pt x="581" y="2616"/>
                  </a:lnTo>
                  <a:lnTo>
                    <a:pt x="567" y="2612"/>
                  </a:lnTo>
                  <a:lnTo>
                    <a:pt x="553" y="2605"/>
                  </a:lnTo>
                  <a:lnTo>
                    <a:pt x="439" y="2514"/>
                  </a:lnTo>
                  <a:lnTo>
                    <a:pt x="430" y="2503"/>
                  </a:lnTo>
                  <a:lnTo>
                    <a:pt x="423" y="2490"/>
                  </a:lnTo>
                  <a:lnTo>
                    <a:pt x="422" y="2477"/>
                  </a:lnTo>
                  <a:lnTo>
                    <a:pt x="425" y="2463"/>
                  </a:lnTo>
                  <a:lnTo>
                    <a:pt x="432" y="2449"/>
                  </a:lnTo>
                  <a:lnTo>
                    <a:pt x="442" y="2440"/>
                  </a:lnTo>
                  <a:lnTo>
                    <a:pt x="456" y="2435"/>
                  </a:lnTo>
                  <a:lnTo>
                    <a:pt x="470" y="2433"/>
                  </a:lnTo>
                  <a:lnTo>
                    <a:pt x="484" y="2436"/>
                  </a:lnTo>
                  <a:lnTo>
                    <a:pt x="496" y="2443"/>
                  </a:lnTo>
                  <a:lnTo>
                    <a:pt x="576" y="2507"/>
                  </a:lnTo>
                  <a:lnTo>
                    <a:pt x="731" y="2334"/>
                  </a:lnTo>
                  <a:lnTo>
                    <a:pt x="742" y="2324"/>
                  </a:lnTo>
                  <a:lnTo>
                    <a:pt x="755" y="2320"/>
                  </a:lnTo>
                  <a:lnTo>
                    <a:pt x="769" y="2319"/>
                  </a:lnTo>
                  <a:close/>
                  <a:moveTo>
                    <a:pt x="2186" y="2182"/>
                  </a:moveTo>
                  <a:lnTo>
                    <a:pt x="2251" y="2185"/>
                  </a:lnTo>
                  <a:lnTo>
                    <a:pt x="2316" y="2196"/>
                  </a:lnTo>
                  <a:lnTo>
                    <a:pt x="2378" y="2212"/>
                  </a:lnTo>
                  <a:lnTo>
                    <a:pt x="2437" y="2233"/>
                  </a:lnTo>
                  <a:lnTo>
                    <a:pt x="2494" y="2260"/>
                  </a:lnTo>
                  <a:lnTo>
                    <a:pt x="2546" y="2293"/>
                  </a:lnTo>
                  <a:lnTo>
                    <a:pt x="2596" y="2329"/>
                  </a:lnTo>
                  <a:lnTo>
                    <a:pt x="2642" y="2371"/>
                  </a:lnTo>
                  <a:lnTo>
                    <a:pt x="2683" y="2417"/>
                  </a:lnTo>
                  <a:lnTo>
                    <a:pt x="2721" y="2466"/>
                  </a:lnTo>
                  <a:lnTo>
                    <a:pt x="2753" y="2520"/>
                  </a:lnTo>
                  <a:lnTo>
                    <a:pt x="2780" y="2577"/>
                  </a:lnTo>
                  <a:lnTo>
                    <a:pt x="2802" y="2636"/>
                  </a:lnTo>
                  <a:lnTo>
                    <a:pt x="2818" y="2698"/>
                  </a:lnTo>
                  <a:lnTo>
                    <a:pt x="2828" y="2761"/>
                  </a:lnTo>
                  <a:lnTo>
                    <a:pt x="2831" y="2827"/>
                  </a:lnTo>
                  <a:lnTo>
                    <a:pt x="2828" y="2893"/>
                  </a:lnTo>
                  <a:lnTo>
                    <a:pt x="2818" y="2958"/>
                  </a:lnTo>
                  <a:lnTo>
                    <a:pt x="2802" y="3019"/>
                  </a:lnTo>
                  <a:lnTo>
                    <a:pt x="2780" y="3079"/>
                  </a:lnTo>
                  <a:lnTo>
                    <a:pt x="2753" y="3134"/>
                  </a:lnTo>
                  <a:lnTo>
                    <a:pt x="2721" y="3188"/>
                  </a:lnTo>
                  <a:lnTo>
                    <a:pt x="2683" y="3237"/>
                  </a:lnTo>
                  <a:lnTo>
                    <a:pt x="2642" y="3283"/>
                  </a:lnTo>
                  <a:lnTo>
                    <a:pt x="2596" y="3325"/>
                  </a:lnTo>
                  <a:lnTo>
                    <a:pt x="2546" y="3362"/>
                  </a:lnTo>
                  <a:lnTo>
                    <a:pt x="2494" y="3394"/>
                  </a:lnTo>
                  <a:lnTo>
                    <a:pt x="2437" y="3421"/>
                  </a:lnTo>
                  <a:lnTo>
                    <a:pt x="2378" y="3443"/>
                  </a:lnTo>
                  <a:lnTo>
                    <a:pt x="2316" y="3459"/>
                  </a:lnTo>
                  <a:lnTo>
                    <a:pt x="2251" y="3469"/>
                  </a:lnTo>
                  <a:lnTo>
                    <a:pt x="2186" y="3472"/>
                  </a:lnTo>
                  <a:lnTo>
                    <a:pt x="2120" y="3469"/>
                  </a:lnTo>
                  <a:lnTo>
                    <a:pt x="2055" y="3459"/>
                  </a:lnTo>
                  <a:lnTo>
                    <a:pt x="1993" y="3443"/>
                  </a:lnTo>
                  <a:lnTo>
                    <a:pt x="1934" y="3421"/>
                  </a:lnTo>
                  <a:lnTo>
                    <a:pt x="1877" y="3394"/>
                  </a:lnTo>
                  <a:lnTo>
                    <a:pt x="1825" y="3362"/>
                  </a:lnTo>
                  <a:lnTo>
                    <a:pt x="1775" y="3325"/>
                  </a:lnTo>
                  <a:lnTo>
                    <a:pt x="1729" y="3283"/>
                  </a:lnTo>
                  <a:lnTo>
                    <a:pt x="1688" y="3237"/>
                  </a:lnTo>
                  <a:lnTo>
                    <a:pt x="1650" y="3188"/>
                  </a:lnTo>
                  <a:lnTo>
                    <a:pt x="1618" y="3134"/>
                  </a:lnTo>
                  <a:lnTo>
                    <a:pt x="1591" y="3079"/>
                  </a:lnTo>
                  <a:lnTo>
                    <a:pt x="1569" y="3019"/>
                  </a:lnTo>
                  <a:lnTo>
                    <a:pt x="1553" y="2958"/>
                  </a:lnTo>
                  <a:lnTo>
                    <a:pt x="1543" y="2893"/>
                  </a:lnTo>
                  <a:lnTo>
                    <a:pt x="1540" y="2827"/>
                  </a:lnTo>
                  <a:lnTo>
                    <a:pt x="1543" y="2761"/>
                  </a:lnTo>
                  <a:lnTo>
                    <a:pt x="1553" y="2698"/>
                  </a:lnTo>
                  <a:lnTo>
                    <a:pt x="1569" y="2636"/>
                  </a:lnTo>
                  <a:lnTo>
                    <a:pt x="1591" y="2577"/>
                  </a:lnTo>
                  <a:lnTo>
                    <a:pt x="1618" y="2520"/>
                  </a:lnTo>
                  <a:lnTo>
                    <a:pt x="1650" y="2466"/>
                  </a:lnTo>
                  <a:lnTo>
                    <a:pt x="1688" y="2417"/>
                  </a:lnTo>
                  <a:lnTo>
                    <a:pt x="1729" y="2371"/>
                  </a:lnTo>
                  <a:lnTo>
                    <a:pt x="1775" y="2329"/>
                  </a:lnTo>
                  <a:lnTo>
                    <a:pt x="1825" y="2293"/>
                  </a:lnTo>
                  <a:lnTo>
                    <a:pt x="1877" y="2260"/>
                  </a:lnTo>
                  <a:lnTo>
                    <a:pt x="1934" y="2233"/>
                  </a:lnTo>
                  <a:lnTo>
                    <a:pt x="1993" y="2212"/>
                  </a:lnTo>
                  <a:lnTo>
                    <a:pt x="2055" y="2196"/>
                  </a:lnTo>
                  <a:lnTo>
                    <a:pt x="2120" y="2185"/>
                  </a:lnTo>
                  <a:lnTo>
                    <a:pt x="2186" y="2182"/>
                  </a:lnTo>
                  <a:close/>
                  <a:moveTo>
                    <a:pt x="944" y="1984"/>
                  </a:moveTo>
                  <a:lnTo>
                    <a:pt x="1491" y="1984"/>
                  </a:lnTo>
                  <a:lnTo>
                    <a:pt x="1505" y="1986"/>
                  </a:lnTo>
                  <a:lnTo>
                    <a:pt x="1519" y="1994"/>
                  </a:lnTo>
                  <a:lnTo>
                    <a:pt x="1531" y="2004"/>
                  </a:lnTo>
                  <a:lnTo>
                    <a:pt x="1537" y="2018"/>
                  </a:lnTo>
                  <a:lnTo>
                    <a:pt x="1540" y="2034"/>
                  </a:lnTo>
                  <a:lnTo>
                    <a:pt x="1540" y="2083"/>
                  </a:lnTo>
                  <a:lnTo>
                    <a:pt x="1537" y="2099"/>
                  </a:lnTo>
                  <a:lnTo>
                    <a:pt x="1531" y="2113"/>
                  </a:lnTo>
                  <a:lnTo>
                    <a:pt x="1519" y="2123"/>
                  </a:lnTo>
                  <a:lnTo>
                    <a:pt x="1505" y="2131"/>
                  </a:lnTo>
                  <a:lnTo>
                    <a:pt x="1491" y="2133"/>
                  </a:lnTo>
                  <a:lnTo>
                    <a:pt x="944" y="2133"/>
                  </a:lnTo>
                  <a:lnTo>
                    <a:pt x="928" y="2131"/>
                  </a:lnTo>
                  <a:lnTo>
                    <a:pt x="914" y="2123"/>
                  </a:lnTo>
                  <a:lnTo>
                    <a:pt x="904" y="2113"/>
                  </a:lnTo>
                  <a:lnTo>
                    <a:pt x="896" y="2099"/>
                  </a:lnTo>
                  <a:lnTo>
                    <a:pt x="894" y="2083"/>
                  </a:lnTo>
                  <a:lnTo>
                    <a:pt x="894" y="2034"/>
                  </a:lnTo>
                  <a:lnTo>
                    <a:pt x="896" y="2018"/>
                  </a:lnTo>
                  <a:lnTo>
                    <a:pt x="904" y="2004"/>
                  </a:lnTo>
                  <a:lnTo>
                    <a:pt x="914" y="1994"/>
                  </a:lnTo>
                  <a:lnTo>
                    <a:pt x="928" y="1986"/>
                  </a:lnTo>
                  <a:lnTo>
                    <a:pt x="944" y="1984"/>
                  </a:lnTo>
                  <a:close/>
                  <a:moveTo>
                    <a:pt x="769" y="1894"/>
                  </a:moveTo>
                  <a:lnTo>
                    <a:pt x="783" y="1897"/>
                  </a:lnTo>
                  <a:lnTo>
                    <a:pt x="795" y="1905"/>
                  </a:lnTo>
                  <a:lnTo>
                    <a:pt x="805" y="1916"/>
                  </a:lnTo>
                  <a:lnTo>
                    <a:pt x="810" y="1930"/>
                  </a:lnTo>
                  <a:lnTo>
                    <a:pt x="810" y="1943"/>
                  </a:lnTo>
                  <a:lnTo>
                    <a:pt x="807" y="1957"/>
                  </a:lnTo>
                  <a:lnTo>
                    <a:pt x="800" y="1970"/>
                  </a:lnTo>
                  <a:lnTo>
                    <a:pt x="616" y="2175"/>
                  </a:lnTo>
                  <a:lnTo>
                    <a:pt x="606" y="2183"/>
                  </a:lnTo>
                  <a:lnTo>
                    <a:pt x="594" y="2188"/>
                  </a:lnTo>
                  <a:lnTo>
                    <a:pt x="581" y="2191"/>
                  </a:lnTo>
                  <a:lnTo>
                    <a:pt x="567" y="2187"/>
                  </a:lnTo>
                  <a:lnTo>
                    <a:pt x="553" y="2180"/>
                  </a:lnTo>
                  <a:lnTo>
                    <a:pt x="439" y="2088"/>
                  </a:lnTo>
                  <a:lnTo>
                    <a:pt x="430" y="2078"/>
                  </a:lnTo>
                  <a:lnTo>
                    <a:pt x="423" y="2065"/>
                  </a:lnTo>
                  <a:lnTo>
                    <a:pt x="422" y="2052"/>
                  </a:lnTo>
                  <a:lnTo>
                    <a:pt x="425" y="2038"/>
                  </a:lnTo>
                  <a:lnTo>
                    <a:pt x="432" y="2024"/>
                  </a:lnTo>
                  <a:lnTo>
                    <a:pt x="442" y="2015"/>
                  </a:lnTo>
                  <a:lnTo>
                    <a:pt x="456" y="2010"/>
                  </a:lnTo>
                  <a:lnTo>
                    <a:pt x="470" y="2007"/>
                  </a:lnTo>
                  <a:lnTo>
                    <a:pt x="484" y="2011"/>
                  </a:lnTo>
                  <a:lnTo>
                    <a:pt x="496" y="2018"/>
                  </a:lnTo>
                  <a:lnTo>
                    <a:pt x="576" y="2082"/>
                  </a:lnTo>
                  <a:lnTo>
                    <a:pt x="731" y="1909"/>
                  </a:lnTo>
                  <a:lnTo>
                    <a:pt x="742" y="1899"/>
                  </a:lnTo>
                  <a:lnTo>
                    <a:pt x="755" y="1895"/>
                  </a:lnTo>
                  <a:lnTo>
                    <a:pt x="769" y="1894"/>
                  </a:lnTo>
                  <a:close/>
                  <a:moveTo>
                    <a:pt x="944" y="1588"/>
                  </a:moveTo>
                  <a:lnTo>
                    <a:pt x="1738" y="1588"/>
                  </a:lnTo>
                  <a:lnTo>
                    <a:pt x="1754" y="1590"/>
                  </a:lnTo>
                  <a:lnTo>
                    <a:pt x="1768" y="1597"/>
                  </a:lnTo>
                  <a:lnTo>
                    <a:pt x="1778" y="1608"/>
                  </a:lnTo>
                  <a:lnTo>
                    <a:pt x="1786" y="1621"/>
                  </a:lnTo>
                  <a:lnTo>
                    <a:pt x="1788" y="1637"/>
                  </a:lnTo>
                  <a:lnTo>
                    <a:pt x="1788" y="1687"/>
                  </a:lnTo>
                  <a:lnTo>
                    <a:pt x="1786" y="1702"/>
                  </a:lnTo>
                  <a:lnTo>
                    <a:pt x="1778" y="1716"/>
                  </a:lnTo>
                  <a:lnTo>
                    <a:pt x="1768" y="1727"/>
                  </a:lnTo>
                  <a:lnTo>
                    <a:pt x="1754" y="1734"/>
                  </a:lnTo>
                  <a:lnTo>
                    <a:pt x="1738" y="1736"/>
                  </a:lnTo>
                  <a:lnTo>
                    <a:pt x="944" y="1736"/>
                  </a:lnTo>
                  <a:lnTo>
                    <a:pt x="928" y="1734"/>
                  </a:lnTo>
                  <a:lnTo>
                    <a:pt x="914" y="1727"/>
                  </a:lnTo>
                  <a:lnTo>
                    <a:pt x="904" y="1716"/>
                  </a:lnTo>
                  <a:lnTo>
                    <a:pt x="896" y="1702"/>
                  </a:lnTo>
                  <a:lnTo>
                    <a:pt x="894" y="1687"/>
                  </a:lnTo>
                  <a:lnTo>
                    <a:pt x="894" y="1637"/>
                  </a:lnTo>
                  <a:lnTo>
                    <a:pt x="896" y="1621"/>
                  </a:lnTo>
                  <a:lnTo>
                    <a:pt x="904" y="1608"/>
                  </a:lnTo>
                  <a:lnTo>
                    <a:pt x="914" y="1597"/>
                  </a:lnTo>
                  <a:lnTo>
                    <a:pt x="928" y="1590"/>
                  </a:lnTo>
                  <a:lnTo>
                    <a:pt x="944" y="1588"/>
                  </a:lnTo>
                  <a:close/>
                  <a:moveTo>
                    <a:pt x="769" y="1472"/>
                  </a:moveTo>
                  <a:lnTo>
                    <a:pt x="783" y="1475"/>
                  </a:lnTo>
                  <a:lnTo>
                    <a:pt x="795" y="1483"/>
                  </a:lnTo>
                  <a:lnTo>
                    <a:pt x="805" y="1494"/>
                  </a:lnTo>
                  <a:lnTo>
                    <a:pt x="810" y="1508"/>
                  </a:lnTo>
                  <a:lnTo>
                    <a:pt x="810" y="1521"/>
                  </a:lnTo>
                  <a:lnTo>
                    <a:pt x="807" y="1535"/>
                  </a:lnTo>
                  <a:lnTo>
                    <a:pt x="800" y="1548"/>
                  </a:lnTo>
                  <a:lnTo>
                    <a:pt x="616" y="1753"/>
                  </a:lnTo>
                  <a:lnTo>
                    <a:pt x="606" y="1761"/>
                  </a:lnTo>
                  <a:lnTo>
                    <a:pt x="594" y="1767"/>
                  </a:lnTo>
                  <a:lnTo>
                    <a:pt x="581" y="1769"/>
                  </a:lnTo>
                  <a:lnTo>
                    <a:pt x="567" y="1765"/>
                  </a:lnTo>
                  <a:lnTo>
                    <a:pt x="553" y="1758"/>
                  </a:lnTo>
                  <a:lnTo>
                    <a:pt x="439" y="1667"/>
                  </a:lnTo>
                  <a:lnTo>
                    <a:pt x="430" y="1656"/>
                  </a:lnTo>
                  <a:lnTo>
                    <a:pt x="423" y="1643"/>
                  </a:lnTo>
                  <a:lnTo>
                    <a:pt x="422" y="1630"/>
                  </a:lnTo>
                  <a:lnTo>
                    <a:pt x="425" y="1615"/>
                  </a:lnTo>
                  <a:lnTo>
                    <a:pt x="432" y="1602"/>
                  </a:lnTo>
                  <a:lnTo>
                    <a:pt x="442" y="1593"/>
                  </a:lnTo>
                  <a:lnTo>
                    <a:pt x="456" y="1588"/>
                  </a:lnTo>
                  <a:lnTo>
                    <a:pt x="470" y="1586"/>
                  </a:lnTo>
                  <a:lnTo>
                    <a:pt x="484" y="1589"/>
                  </a:lnTo>
                  <a:lnTo>
                    <a:pt x="496" y="1596"/>
                  </a:lnTo>
                  <a:lnTo>
                    <a:pt x="576" y="1660"/>
                  </a:lnTo>
                  <a:lnTo>
                    <a:pt x="731" y="1487"/>
                  </a:lnTo>
                  <a:lnTo>
                    <a:pt x="742" y="1477"/>
                  </a:lnTo>
                  <a:lnTo>
                    <a:pt x="755" y="1473"/>
                  </a:lnTo>
                  <a:lnTo>
                    <a:pt x="769" y="1472"/>
                  </a:lnTo>
                  <a:close/>
                  <a:moveTo>
                    <a:pt x="944" y="1140"/>
                  </a:moveTo>
                  <a:lnTo>
                    <a:pt x="1738" y="1140"/>
                  </a:lnTo>
                  <a:lnTo>
                    <a:pt x="1754" y="1144"/>
                  </a:lnTo>
                  <a:lnTo>
                    <a:pt x="1768" y="1150"/>
                  </a:lnTo>
                  <a:lnTo>
                    <a:pt x="1778" y="1162"/>
                  </a:lnTo>
                  <a:lnTo>
                    <a:pt x="1786" y="1175"/>
                  </a:lnTo>
                  <a:lnTo>
                    <a:pt x="1788" y="1190"/>
                  </a:lnTo>
                  <a:lnTo>
                    <a:pt x="1788" y="1240"/>
                  </a:lnTo>
                  <a:lnTo>
                    <a:pt x="1786" y="1255"/>
                  </a:lnTo>
                  <a:lnTo>
                    <a:pt x="1778" y="1269"/>
                  </a:lnTo>
                  <a:lnTo>
                    <a:pt x="1768" y="1280"/>
                  </a:lnTo>
                  <a:lnTo>
                    <a:pt x="1754" y="1287"/>
                  </a:lnTo>
                  <a:lnTo>
                    <a:pt x="1738" y="1290"/>
                  </a:lnTo>
                  <a:lnTo>
                    <a:pt x="944" y="1290"/>
                  </a:lnTo>
                  <a:lnTo>
                    <a:pt x="928" y="1287"/>
                  </a:lnTo>
                  <a:lnTo>
                    <a:pt x="914" y="1280"/>
                  </a:lnTo>
                  <a:lnTo>
                    <a:pt x="904" y="1269"/>
                  </a:lnTo>
                  <a:lnTo>
                    <a:pt x="896" y="1255"/>
                  </a:lnTo>
                  <a:lnTo>
                    <a:pt x="894" y="1240"/>
                  </a:lnTo>
                  <a:lnTo>
                    <a:pt x="894" y="1190"/>
                  </a:lnTo>
                  <a:lnTo>
                    <a:pt x="896" y="1175"/>
                  </a:lnTo>
                  <a:lnTo>
                    <a:pt x="904" y="1162"/>
                  </a:lnTo>
                  <a:lnTo>
                    <a:pt x="914" y="1150"/>
                  </a:lnTo>
                  <a:lnTo>
                    <a:pt x="928" y="1144"/>
                  </a:lnTo>
                  <a:lnTo>
                    <a:pt x="944" y="1140"/>
                  </a:lnTo>
                  <a:close/>
                  <a:moveTo>
                    <a:pt x="769" y="1030"/>
                  </a:moveTo>
                  <a:lnTo>
                    <a:pt x="783" y="1034"/>
                  </a:lnTo>
                  <a:lnTo>
                    <a:pt x="795" y="1042"/>
                  </a:lnTo>
                  <a:lnTo>
                    <a:pt x="805" y="1053"/>
                  </a:lnTo>
                  <a:lnTo>
                    <a:pt x="810" y="1066"/>
                  </a:lnTo>
                  <a:lnTo>
                    <a:pt x="810" y="1081"/>
                  </a:lnTo>
                  <a:lnTo>
                    <a:pt x="807" y="1094"/>
                  </a:lnTo>
                  <a:lnTo>
                    <a:pt x="800" y="1106"/>
                  </a:lnTo>
                  <a:lnTo>
                    <a:pt x="616" y="1312"/>
                  </a:lnTo>
                  <a:lnTo>
                    <a:pt x="606" y="1320"/>
                  </a:lnTo>
                  <a:lnTo>
                    <a:pt x="594" y="1326"/>
                  </a:lnTo>
                  <a:lnTo>
                    <a:pt x="581" y="1327"/>
                  </a:lnTo>
                  <a:lnTo>
                    <a:pt x="567" y="1325"/>
                  </a:lnTo>
                  <a:lnTo>
                    <a:pt x="553" y="1317"/>
                  </a:lnTo>
                  <a:lnTo>
                    <a:pt x="439" y="1226"/>
                  </a:lnTo>
                  <a:lnTo>
                    <a:pt x="430" y="1215"/>
                  </a:lnTo>
                  <a:lnTo>
                    <a:pt x="423" y="1202"/>
                  </a:lnTo>
                  <a:lnTo>
                    <a:pt x="422" y="1188"/>
                  </a:lnTo>
                  <a:lnTo>
                    <a:pt x="425" y="1174"/>
                  </a:lnTo>
                  <a:lnTo>
                    <a:pt x="432" y="1162"/>
                  </a:lnTo>
                  <a:lnTo>
                    <a:pt x="442" y="1152"/>
                  </a:lnTo>
                  <a:lnTo>
                    <a:pt x="456" y="1146"/>
                  </a:lnTo>
                  <a:lnTo>
                    <a:pt x="470" y="1145"/>
                  </a:lnTo>
                  <a:lnTo>
                    <a:pt x="484" y="1147"/>
                  </a:lnTo>
                  <a:lnTo>
                    <a:pt x="496" y="1154"/>
                  </a:lnTo>
                  <a:lnTo>
                    <a:pt x="576" y="1218"/>
                  </a:lnTo>
                  <a:lnTo>
                    <a:pt x="731" y="1046"/>
                  </a:lnTo>
                  <a:lnTo>
                    <a:pt x="742" y="1036"/>
                  </a:lnTo>
                  <a:lnTo>
                    <a:pt x="755" y="1031"/>
                  </a:lnTo>
                  <a:lnTo>
                    <a:pt x="769" y="1030"/>
                  </a:lnTo>
                  <a:close/>
                  <a:moveTo>
                    <a:pt x="150" y="347"/>
                  </a:moveTo>
                  <a:lnTo>
                    <a:pt x="552" y="347"/>
                  </a:lnTo>
                  <a:lnTo>
                    <a:pt x="548" y="372"/>
                  </a:lnTo>
                  <a:lnTo>
                    <a:pt x="547" y="399"/>
                  </a:lnTo>
                  <a:lnTo>
                    <a:pt x="550" y="439"/>
                  </a:lnTo>
                  <a:lnTo>
                    <a:pt x="559" y="477"/>
                  </a:lnTo>
                  <a:lnTo>
                    <a:pt x="574" y="511"/>
                  </a:lnTo>
                  <a:lnTo>
                    <a:pt x="594" y="544"/>
                  </a:lnTo>
                  <a:lnTo>
                    <a:pt x="618" y="572"/>
                  </a:lnTo>
                  <a:lnTo>
                    <a:pt x="648" y="598"/>
                  </a:lnTo>
                  <a:lnTo>
                    <a:pt x="681" y="618"/>
                  </a:lnTo>
                  <a:lnTo>
                    <a:pt x="715" y="632"/>
                  </a:lnTo>
                  <a:lnTo>
                    <a:pt x="753" y="642"/>
                  </a:lnTo>
                  <a:lnTo>
                    <a:pt x="793" y="645"/>
                  </a:lnTo>
                  <a:lnTo>
                    <a:pt x="1442" y="645"/>
                  </a:lnTo>
                  <a:lnTo>
                    <a:pt x="1482" y="642"/>
                  </a:lnTo>
                  <a:lnTo>
                    <a:pt x="1520" y="632"/>
                  </a:lnTo>
                  <a:lnTo>
                    <a:pt x="1555" y="618"/>
                  </a:lnTo>
                  <a:lnTo>
                    <a:pt x="1588" y="597"/>
                  </a:lnTo>
                  <a:lnTo>
                    <a:pt x="1616" y="572"/>
                  </a:lnTo>
                  <a:lnTo>
                    <a:pt x="1641" y="543"/>
                  </a:lnTo>
                  <a:lnTo>
                    <a:pt x="1661" y="510"/>
                  </a:lnTo>
                  <a:lnTo>
                    <a:pt x="1676" y="475"/>
                  </a:lnTo>
                  <a:lnTo>
                    <a:pt x="1686" y="436"/>
                  </a:lnTo>
                  <a:lnTo>
                    <a:pt x="1689" y="396"/>
                  </a:lnTo>
                  <a:lnTo>
                    <a:pt x="1688" y="371"/>
                  </a:lnTo>
                  <a:lnTo>
                    <a:pt x="1683" y="347"/>
                  </a:lnTo>
                  <a:lnTo>
                    <a:pt x="1987" y="347"/>
                  </a:lnTo>
                  <a:lnTo>
                    <a:pt x="2029" y="349"/>
                  </a:lnTo>
                  <a:lnTo>
                    <a:pt x="2067" y="356"/>
                  </a:lnTo>
                  <a:lnTo>
                    <a:pt x="2101" y="366"/>
                  </a:lnTo>
                  <a:lnTo>
                    <a:pt x="2132" y="379"/>
                  </a:lnTo>
                  <a:lnTo>
                    <a:pt x="2159" y="396"/>
                  </a:lnTo>
                  <a:lnTo>
                    <a:pt x="2182" y="416"/>
                  </a:lnTo>
                  <a:lnTo>
                    <a:pt x="2201" y="438"/>
                  </a:lnTo>
                  <a:lnTo>
                    <a:pt x="2215" y="462"/>
                  </a:lnTo>
                  <a:lnTo>
                    <a:pt x="2226" y="488"/>
                  </a:lnTo>
                  <a:lnTo>
                    <a:pt x="2233" y="517"/>
                  </a:lnTo>
                  <a:lnTo>
                    <a:pt x="2235" y="546"/>
                  </a:lnTo>
                  <a:lnTo>
                    <a:pt x="2235" y="2036"/>
                  </a:lnTo>
                  <a:lnTo>
                    <a:pt x="2210" y="2035"/>
                  </a:lnTo>
                  <a:lnTo>
                    <a:pt x="2186" y="2034"/>
                  </a:lnTo>
                  <a:lnTo>
                    <a:pt x="2118" y="2037"/>
                  </a:lnTo>
                  <a:lnTo>
                    <a:pt x="2051" y="2045"/>
                  </a:lnTo>
                  <a:lnTo>
                    <a:pt x="1987" y="2060"/>
                  </a:lnTo>
                  <a:lnTo>
                    <a:pt x="1987" y="893"/>
                  </a:lnTo>
                  <a:lnTo>
                    <a:pt x="249" y="893"/>
                  </a:lnTo>
                  <a:lnTo>
                    <a:pt x="249" y="2876"/>
                  </a:lnTo>
                  <a:lnTo>
                    <a:pt x="1394" y="2876"/>
                  </a:lnTo>
                  <a:lnTo>
                    <a:pt x="1400" y="2942"/>
                  </a:lnTo>
                  <a:lnTo>
                    <a:pt x="1412" y="3005"/>
                  </a:lnTo>
                  <a:lnTo>
                    <a:pt x="1429" y="3066"/>
                  </a:lnTo>
                  <a:lnTo>
                    <a:pt x="1450" y="3125"/>
                  </a:lnTo>
                  <a:lnTo>
                    <a:pt x="199" y="3125"/>
                  </a:lnTo>
                  <a:lnTo>
                    <a:pt x="163" y="3122"/>
                  </a:lnTo>
                  <a:lnTo>
                    <a:pt x="130" y="3112"/>
                  </a:lnTo>
                  <a:lnTo>
                    <a:pt x="99" y="3097"/>
                  </a:lnTo>
                  <a:lnTo>
                    <a:pt x="71" y="3079"/>
                  </a:lnTo>
                  <a:lnTo>
                    <a:pt x="47" y="3054"/>
                  </a:lnTo>
                  <a:lnTo>
                    <a:pt x="27" y="3027"/>
                  </a:lnTo>
                  <a:lnTo>
                    <a:pt x="13" y="2995"/>
                  </a:lnTo>
                  <a:lnTo>
                    <a:pt x="3" y="2962"/>
                  </a:lnTo>
                  <a:lnTo>
                    <a:pt x="0" y="2926"/>
                  </a:lnTo>
                  <a:lnTo>
                    <a:pt x="0" y="546"/>
                  </a:lnTo>
                  <a:lnTo>
                    <a:pt x="3" y="513"/>
                  </a:lnTo>
                  <a:lnTo>
                    <a:pt x="9" y="483"/>
                  </a:lnTo>
                  <a:lnTo>
                    <a:pt x="21" y="455"/>
                  </a:lnTo>
                  <a:lnTo>
                    <a:pt x="36" y="428"/>
                  </a:lnTo>
                  <a:lnTo>
                    <a:pt x="53" y="405"/>
                  </a:lnTo>
                  <a:lnTo>
                    <a:pt x="71" y="385"/>
                  </a:lnTo>
                  <a:lnTo>
                    <a:pt x="91" y="369"/>
                  </a:lnTo>
                  <a:lnTo>
                    <a:pt x="111" y="358"/>
                  </a:lnTo>
                  <a:lnTo>
                    <a:pt x="131" y="349"/>
                  </a:lnTo>
                  <a:lnTo>
                    <a:pt x="150" y="347"/>
                  </a:lnTo>
                  <a:close/>
                  <a:moveTo>
                    <a:pt x="1118" y="99"/>
                  </a:moveTo>
                  <a:lnTo>
                    <a:pt x="1098" y="102"/>
                  </a:lnTo>
                  <a:lnTo>
                    <a:pt x="1080" y="109"/>
                  </a:lnTo>
                  <a:lnTo>
                    <a:pt x="1065" y="121"/>
                  </a:lnTo>
                  <a:lnTo>
                    <a:pt x="1053" y="136"/>
                  </a:lnTo>
                  <a:lnTo>
                    <a:pt x="1046" y="154"/>
                  </a:lnTo>
                  <a:lnTo>
                    <a:pt x="1043" y="174"/>
                  </a:lnTo>
                  <a:lnTo>
                    <a:pt x="1046" y="194"/>
                  </a:lnTo>
                  <a:lnTo>
                    <a:pt x="1053" y="211"/>
                  </a:lnTo>
                  <a:lnTo>
                    <a:pt x="1065" y="226"/>
                  </a:lnTo>
                  <a:lnTo>
                    <a:pt x="1080" y="238"/>
                  </a:lnTo>
                  <a:lnTo>
                    <a:pt x="1098" y="245"/>
                  </a:lnTo>
                  <a:lnTo>
                    <a:pt x="1118" y="248"/>
                  </a:lnTo>
                  <a:lnTo>
                    <a:pt x="1138" y="245"/>
                  </a:lnTo>
                  <a:lnTo>
                    <a:pt x="1156" y="238"/>
                  </a:lnTo>
                  <a:lnTo>
                    <a:pt x="1170" y="226"/>
                  </a:lnTo>
                  <a:lnTo>
                    <a:pt x="1182" y="211"/>
                  </a:lnTo>
                  <a:lnTo>
                    <a:pt x="1189" y="194"/>
                  </a:lnTo>
                  <a:lnTo>
                    <a:pt x="1193" y="174"/>
                  </a:lnTo>
                  <a:lnTo>
                    <a:pt x="1189" y="154"/>
                  </a:lnTo>
                  <a:lnTo>
                    <a:pt x="1182" y="136"/>
                  </a:lnTo>
                  <a:lnTo>
                    <a:pt x="1170" y="121"/>
                  </a:lnTo>
                  <a:lnTo>
                    <a:pt x="1156" y="109"/>
                  </a:lnTo>
                  <a:lnTo>
                    <a:pt x="1138" y="102"/>
                  </a:lnTo>
                  <a:lnTo>
                    <a:pt x="1118" y="99"/>
                  </a:lnTo>
                  <a:close/>
                  <a:moveTo>
                    <a:pt x="1116" y="0"/>
                  </a:moveTo>
                  <a:lnTo>
                    <a:pt x="1120" y="0"/>
                  </a:lnTo>
                  <a:lnTo>
                    <a:pt x="1150" y="3"/>
                  </a:lnTo>
                  <a:lnTo>
                    <a:pt x="1180" y="11"/>
                  </a:lnTo>
                  <a:lnTo>
                    <a:pt x="1206" y="23"/>
                  </a:lnTo>
                  <a:lnTo>
                    <a:pt x="1230" y="40"/>
                  </a:lnTo>
                  <a:lnTo>
                    <a:pt x="1252" y="61"/>
                  </a:lnTo>
                  <a:lnTo>
                    <a:pt x="1268" y="85"/>
                  </a:lnTo>
                  <a:lnTo>
                    <a:pt x="1281" y="112"/>
                  </a:lnTo>
                  <a:lnTo>
                    <a:pt x="1288" y="141"/>
                  </a:lnTo>
                  <a:lnTo>
                    <a:pt x="1292" y="171"/>
                  </a:lnTo>
                  <a:lnTo>
                    <a:pt x="1292" y="174"/>
                  </a:lnTo>
                  <a:lnTo>
                    <a:pt x="1294" y="194"/>
                  </a:lnTo>
                  <a:lnTo>
                    <a:pt x="1302" y="211"/>
                  </a:lnTo>
                  <a:lnTo>
                    <a:pt x="1314" y="226"/>
                  </a:lnTo>
                  <a:lnTo>
                    <a:pt x="1328" y="238"/>
                  </a:lnTo>
                  <a:lnTo>
                    <a:pt x="1345" y="245"/>
                  </a:lnTo>
                  <a:lnTo>
                    <a:pt x="1365" y="248"/>
                  </a:lnTo>
                  <a:lnTo>
                    <a:pt x="1442" y="248"/>
                  </a:lnTo>
                  <a:lnTo>
                    <a:pt x="1472" y="251"/>
                  </a:lnTo>
                  <a:lnTo>
                    <a:pt x="1499" y="260"/>
                  </a:lnTo>
                  <a:lnTo>
                    <a:pt x="1524" y="274"/>
                  </a:lnTo>
                  <a:lnTo>
                    <a:pt x="1547" y="291"/>
                  </a:lnTo>
                  <a:lnTo>
                    <a:pt x="1564" y="312"/>
                  </a:lnTo>
                  <a:lnTo>
                    <a:pt x="1578" y="338"/>
                  </a:lnTo>
                  <a:lnTo>
                    <a:pt x="1587" y="366"/>
                  </a:lnTo>
                  <a:lnTo>
                    <a:pt x="1590" y="396"/>
                  </a:lnTo>
                  <a:lnTo>
                    <a:pt x="1590" y="399"/>
                  </a:lnTo>
                  <a:lnTo>
                    <a:pt x="1587" y="428"/>
                  </a:lnTo>
                  <a:lnTo>
                    <a:pt x="1578" y="456"/>
                  </a:lnTo>
                  <a:lnTo>
                    <a:pt x="1564" y="481"/>
                  </a:lnTo>
                  <a:lnTo>
                    <a:pt x="1547" y="503"/>
                  </a:lnTo>
                  <a:lnTo>
                    <a:pt x="1524" y="521"/>
                  </a:lnTo>
                  <a:lnTo>
                    <a:pt x="1499" y="534"/>
                  </a:lnTo>
                  <a:lnTo>
                    <a:pt x="1472" y="543"/>
                  </a:lnTo>
                  <a:lnTo>
                    <a:pt x="1442" y="546"/>
                  </a:lnTo>
                  <a:lnTo>
                    <a:pt x="793" y="546"/>
                  </a:lnTo>
                  <a:lnTo>
                    <a:pt x="764" y="543"/>
                  </a:lnTo>
                  <a:lnTo>
                    <a:pt x="736" y="534"/>
                  </a:lnTo>
                  <a:lnTo>
                    <a:pt x="711" y="521"/>
                  </a:lnTo>
                  <a:lnTo>
                    <a:pt x="689" y="503"/>
                  </a:lnTo>
                  <a:lnTo>
                    <a:pt x="671" y="481"/>
                  </a:lnTo>
                  <a:lnTo>
                    <a:pt x="657" y="456"/>
                  </a:lnTo>
                  <a:lnTo>
                    <a:pt x="649" y="428"/>
                  </a:lnTo>
                  <a:lnTo>
                    <a:pt x="646" y="399"/>
                  </a:lnTo>
                  <a:lnTo>
                    <a:pt x="646" y="396"/>
                  </a:lnTo>
                  <a:lnTo>
                    <a:pt x="649" y="366"/>
                  </a:lnTo>
                  <a:lnTo>
                    <a:pt x="657" y="338"/>
                  </a:lnTo>
                  <a:lnTo>
                    <a:pt x="671" y="312"/>
                  </a:lnTo>
                  <a:lnTo>
                    <a:pt x="689" y="291"/>
                  </a:lnTo>
                  <a:lnTo>
                    <a:pt x="711" y="274"/>
                  </a:lnTo>
                  <a:lnTo>
                    <a:pt x="736" y="260"/>
                  </a:lnTo>
                  <a:lnTo>
                    <a:pt x="764" y="251"/>
                  </a:lnTo>
                  <a:lnTo>
                    <a:pt x="793" y="248"/>
                  </a:lnTo>
                  <a:lnTo>
                    <a:pt x="870" y="248"/>
                  </a:lnTo>
                  <a:lnTo>
                    <a:pt x="889" y="245"/>
                  </a:lnTo>
                  <a:lnTo>
                    <a:pt x="907" y="238"/>
                  </a:lnTo>
                  <a:lnTo>
                    <a:pt x="922" y="226"/>
                  </a:lnTo>
                  <a:lnTo>
                    <a:pt x="933" y="211"/>
                  </a:lnTo>
                  <a:lnTo>
                    <a:pt x="941" y="194"/>
                  </a:lnTo>
                  <a:lnTo>
                    <a:pt x="944" y="174"/>
                  </a:lnTo>
                  <a:lnTo>
                    <a:pt x="944" y="171"/>
                  </a:lnTo>
                  <a:lnTo>
                    <a:pt x="947" y="141"/>
                  </a:lnTo>
                  <a:lnTo>
                    <a:pt x="954" y="112"/>
                  </a:lnTo>
                  <a:lnTo>
                    <a:pt x="967" y="85"/>
                  </a:lnTo>
                  <a:lnTo>
                    <a:pt x="984" y="61"/>
                  </a:lnTo>
                  <a:lnTo>
                    <a:pt x="1005" y="40"/>
                  </a:lnTo>
                  <a:lnTo>
                    <a:pt x="1029" y="23"/>
                  </a:lnTo>
                  <a:lnTo>
                    <a:pt x="1056" y="11"/>
                  </a:lnTo>
                  <a:lnTo>
                    <a:pt x="1085" y="3"/>
                  </a:lnTo>
                  <a:lnTo>
                    <a:pt x="1116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34C652D-C1E7-4DCC-9DF6-426145330D90}"/>
                </a:ext>
              </a:extLst>
            </p:cNvPr>
            <p:cNvSpPr/>
            <p:nvPr/>
          </p:nvSpPr>
          <p:spPr>
            <a:xfrm>
              <a:off x="5762816" y="4425245"/>
              <a:ext cx="666366" cy="3595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명조OTF" panose="02020603020101020101" pitchFamily="18" charset="-127"/>
                  <a:ea typeface="나눔명조OTF" panose="02020603020101020101" pitchFamily="18" charset="-127"/>
                </a:rPr>
                <a:t>Step. 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5910E1B-32E4-4878-8CB7-59680D56EA13}"/>
                </a:ext>
              </a:extLst>
            </p:cNvPr>
            <p:cNvSpPr txBox="1"/>
            <p:nvPr/>
          </p:nvSpPr>
          <p:spPr>
            <a:xfrm>
              <a:off x="6574724" y="4206347"/>
              <a:ext cx="475006" cy="422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명조OTF" panose="02020603020101020101" pitchFamily="18" charset="-127"/>
                  <a:ea typeface="나눔명조OTF" panose="02020603020101020101" pitchFamily="18" charset="-127"/>
                </a:rPr>
                <a:t>▶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7D2D81B-C3D5-4947-BD2F-DC1AC698AB24}"/>
                </a:ext>
              </a:extLst>
            </p:cNvPr>
            <p:cNvSpPr txBox="1"/>
            <p:nvPr/>
          </p:nvSpPr>
          <p:spPr>
            <a:xfrm>
              <a:off x="5146126" y="4209492"/>
              <a:ext cx="475006" cy="422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명조OTF" panose="02020603020101020101" pitchFamily="18" charset="-127"/>
                  <a:ea typeface="나눔명조OTF" panose="02020603020101020101" pitchFamily="18" charset="-127"/>
                </a:rPr>
                <a:t>◀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5F44D20-4E22-4A9F-8F13-656F003464FE}"/>
              </a:ext>
            </a:extLst>
          </p:cNvPr>
          <p:cNvSpPr txBox="1"/>
          <p:nvPr/>
        </p:nvSpPr>
        <p:spPr>
          <a:xfrm>
            <a:off x="6443599" y="3949081"/>
            <a:ext cx="1634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Phase</a:t>
            </a:r>
            <a:r>
              <a:rPr lang="ko-KR" altLang="en-US" sz="105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 별</a:t>
            </a:r>
            <a:r>
              <a:rPr lang="en-US" altLang="ko-KR" sz="105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 </a:t>
            </a:r>
            <a:r>
              <a:rPr lang="ko-KR" altLang="en-US" sz="105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기능 및 </a:t>
            </a:r>
            <a:r>
              <a:rPr lang="en-US" altLang="ko-KR" sz="105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PG</a:t>
            </a:r>
            <a:r>
              <a:rPr lang="ko-KR" altLang="en-US" sz="105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사를</a:t>
            </a:r>
            <a:endParaRPr lang="en-US" altLang="ko-KR" sz="1050" dirty="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 algn="ctr"/>
            <a:r>
              <a:rPr lang="ko-KR" altLang="en-US" sz="105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 통한 결제 </a:t>
            </a:r>
            <a:r>
              <a:rPr lang="en-US" altLang="ko-KR" sz="105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Test</a:t>
            </a:r>
            <a:r>
              <a:rPr lang="ko-KR" altLang="en-US" sz="105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 진행</a:t>
            </a:r>
            <a:endParaRPr lang="ko-KR" altLang="en-US" sz="1050" dirty="0">
              <a:solidFill>
                <a:schemeClr val="tx1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61738A-6E06-4037-A086-3735FC2B4CEC}"/>
              </a:ext>
            </a:extLst>
          </p:cNvPr>
          <p:cNvSpPr txBox="1"/>
          <p:nvPr/>
        </p:nvSpPr>
        <p:spPr>
          <a:xfrm>
            <a:off x="9433366" y="3911210"/>
            <a:ext cx="1656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기획 </a:t>
            </a:r>
            <a:r>
              <a:rPr lang="en-US" altLang="ko-KR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/ </a:t>
            </a:r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개발</a:t>
            </a:r>
            <a:endParaRPr lang="en-US" altLang="ko-KR" sz="1200" dirty="0">
              <a:solidFill>
                <a:schemeClr val="tx1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리뷰 및 </a:t>
            </a:r>
            <a:r>
              <a:rPr lang="en-US" altLang="ko-KR" sz="12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Phase</a:t>
            </a:r>
            <a:r>
              <a:rPr lang="ko-KR" altLang="en-US" sz="12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 별</a:t>
            </a:r>
            <a:r>
              <a:rPr lang="en-US" altLang="ko-KR" sz="12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 </a:t>
            </a:r>
            <a:r>
              <a:rPr lang="ko-KR" altLang="en-US" sz="12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검증</a:t>
            </a:r>
            <a:endParaRPr lang="ko-KR" altLang="en-US" sz="1200" dirty="0">
              <a:solidFill>
                <a:schemeClr val="tx1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50E8FD-D54C-44A1-809C-71D4A4A4E127}"/>
              </a:ext>
            </a:extLst>
          </p:cNvPr>
          <p:cNvSpPr txBox="1"/>
          <p:nvPr/>
        </p:nvSpPr>
        <p:spPr>
          <a:xfrm>
            <a:off x="9352246" y="5438662"/>
            <a:ext cx="2050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새벽 배포 및 홈페이지 </a:t>
            </a:r>
            <a:r>
              <a:rPr lang="en-US" altLang="ko-KR" sz="12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Closed </a:t>
            </a:r>
            <a:r>
              <a:rPr lang="ko-KR" altLang="en-US" sz="1200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후 </a:t>
            </a:r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운영 검증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7154FE-B5C9-419F-AD60-E35BBF0B9307}"/>
              </a:ext>
            </a:extLst>
          </p:cNvPr>
          <p:cNvSpPr txBox="1"/>
          <p:nvPr/>
        </p:nvSpPr>
        <p:spPr>
          <a:xfrm>
            <a:off x="504000" y="1836000"/>
            <a:ext cx="557188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Introduction </a:t>
            </a: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롯데면세점 사이트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Phase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별 기능 및 비 기능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Test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진행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BF0AB9-F1E1-4CF5-A399-1389AC3C2680}"/>
              </a:ext>
            </a:extLst>
          </p:cNvPr>
          <p:cNvSpPr txBox="1"/>
          <p:nvPr/>
        </p:nvSpPr>
        <p:spPr>
          <a:xfrm>
            <a:off x="504000" y="2945188"/>
            <a:ext cx="547466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Project details</a:t>
            </a:r>
          </a:p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초기 투입 후</a:t>
            </a: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</a:t>
            </a:r>
            <a:r>
              <a:rPr lang="ko-KR" altLang="en-US" sz="1500" dirty="0">
                <a:solidFill>
                  <a:prstClr val="black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업무 파악 및 검증 범위 논의</a:t>
            </a:r>
            <a:r>
              <a:rPr lang="en-US" altLang="ko-KR" sz="1500" dirty="0">
                <a:solidFill>
                  <a:prstClr val="black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</a:p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prstClr val="black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</a:t>
            </a:r>
            <a:r>
              <a:rPr lang="ko-KR" altLang="en-US" sz="1500" dirty="0">
                <a:solidFill>
                  <a:prstClr val="black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업무분장 및 진행사항 모니터링 후 인원 조율</a:t>
            </a:r>
            <a:endParaRPr lang="en-US" altLang="ko-KR" sz="1500" dirty="0">
              <a:solidFill>
                <a:prstClr val="black"/>
              </a:solidFill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</a:t>
            </a:r>
            <a:r>
              <a:rPr lang="ko-KR" altLang="en-US" sz="1500" dirty="0">
                <a:solidFill>
                  <a:prstClr val="black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문제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발생 시 개발 파트 </a:t>
            </a: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or PM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에게 </a:t>
            </a:r>
            <a:r>
              <a:rPr lang="en-US" altLang="ko-KR" sz="1500" dirty="0">
                <a:solidFill>
                  <a:prstClr val="black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contact</a:t>
            </a:r>
            <a:r>
              <a:rPr lang="ko-KR" altLang="en-US" sz="1500" dirty="0">
                <a:solidFill>
                  <a:prstClr val="black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후 처리</a:t>
            </a:r>
            <a:endParaRPr kumimoji="0" lang="en-US" altLang="ko-KR" sz="15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Web, Mobile Web, App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에서 국가 및 결제수단 별 검증</a:t>
            </a:r>
          </a:p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회원가입</a:t>
            </a: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탈퇴</a:t>
            </a: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비회원 주문</a:t>
            </a: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ID/PW 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찾기 영역 </a:t>
            </a:r>
            <a:r>
              <a:rPr lang="ko-KR" altLang="en-US" sz="1500" dirty="0">
                <a:solidFill>
                  <a:prstClr val="black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기능 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개발 리뷰 참여 및 검증</a:t>
            </a:r>
          </a:p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BO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에서 상품</a:t>
            </a: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이벤트 및 판촉 </a:t>
            </a: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DB 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등록 후</a:t>
            </a:r>
            <a:r>
              <a:rPr kumimoji="0" lang="en-US" altLang="ko-KR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FO </a:t>
            </a:r>
            <a:r>
              <a:rPr kumimoji="0" lang="ko-KR" alt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확인 및 검증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E61AAD-3273-43EC-8444-66043E863460}"/>
              </a:ext>
            </a:extLst>
          </p:cNvPr>
          <p:cNvSpPr txBox="1"/>
          <p:nvPr/>
        </p:nvSpPr>
        <p:spPr>
          <a:xfrm>
            <a:off x="504000" y="5777269"/>
            <a:ext cx="2675633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Software and tools used</a:t>
            </a: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Redmine, Jira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1735E2D-151A-48BC-9C96-F94C4E6FF183}"/>
              </a:ext>
            </a:extLst>
          </p:cNvPr>
          <p:cNvCxnSpPr>
            <a:cxnSpLocks/>
          </p:cNvCxnSpPr>
          <p:nvPr/>
        </p:nvCxnSpPr>
        <p:spPr>
          <a:xfrm>
            <a:off x="6450244" y="4995235"/>
            <a:ext cx="471758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50B18498-77B7-4155-B26C-4A8A3ED03BCB}"/>
              </a:ext>
            </a:extLst>
          </p:cNvPr>
          <p:cNvGrpSpPr/>
          <p:nvPr/>
        </p:nvGrpSpPr>
        <p:grpSpPr>
          <a:xfrm>
            <a:off x="7943182" y="5218369"/>
            <a:ext cx="1663998" cy="777102"/>
            <a:chOff x="5146126" y="2530513"/>
            <a:chExt cx="1903604" cy="889000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4C1B2DA4-8B94-4488-B88F-FE9859A87E9F}"/>
                </a:ext>
              </a:extLst>
            </p:cNvPr>
            <p:cNvSpPr/>
            <p:nvPr/>
          </p:nvSpPr>
          <p:spPr>
            <a:xfrm>
              <a:off x="5651500" y="2530513"/>
              <a:ext cx="889000" cy="889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endParaRPr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C48ADA31-A085-4885-AADA-601881E85B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65894" y="2703240"/>
              <a:ext cx="297256" cy="364946"/>
            </a:xfrm>
            <a:custGeom>
              <a:avLst/>
              <a:gdLst>
                <a:gd name="T0" fmla="*/ 1930 w 2831"/>
                <a:gd name="T1" fmla="*/ 2787 h 3472"/>
                <a:gd name="T2" fmla="*/ 1791 w 2831"/>
                <a:gd name="T3" fmla="*/ 2855 h 3472"/>
                <a:gd name="T4" fmla="*/ 2114 w 2831"/>
                <a:gd name="T5" fmla="*/ 3172 h 3472"/>
                <a:gd name="T6" fmla="*/ 2628 w 2831"/>
                <a:gd name="T7" fmla="*/ 2656 h 3472"/>
                <a:gd name="T8" fmla="*/ 2538 w 2831"/>
                <a:gd name="T9" fmla="*/ 2529 h 3472"/>
                <a:gd name="T10" fmla="*/ 1440 w 2831"/>
                <a:gd name="T11" fmla="*/ 2529 h 3472"/>
                <a:gd name="T12" fmla="*/ 914 w 2831"/>
                <a:gd name="T13" fmla="*/ 2569 h 3472"/>
                <a:gd name="T14" fmla="*/ 928 w 2831"/>
                <a:gd name="T15" fmla="*/ 2433 h 3472"/>
                <a:gd name="T16" fmla="*/ 807 w 2831"/>
                <a:gd name="T17" fmla="*/ 2382 h 3472"/>
                <a:gd name="T18" fmla="*/ 439 w 2831"/>
                <a:gd name="T19" fmla="*/ 2514 h 3472"/>
                <a:gd name="T20" fmla="*/ 470 w 2831"/>
                <a:gd name="T21" fmla="*/ 2433 h 3472"/>
                <a:gd name="T22" fmla="*/ 2186 w 2831"/>
                <a:gd name="T23" fmla="*/ 2182 h 3472"/>
                <a:gd name="T24" fmla="*/ 2642 w 2831"/>
                <a:gd name="T25" fmla="*/ 2371 h 3472"/>
                <a:gd name="T26" fmla="*/ 2831 w 2831"/>
                <a:gd name="T27" fmla="*/ 2827 h 3472"/>
                <a:gd name="T28" fmla="*/ 2642 w 2831"/>
                <a:gd name="T29" fmla="*/ 3283 h 3472"/>
                <a:gd name="T30" fmla="*/ 2186 w 2831"/>
                <a:gd name="T31" fmla="*/ 3472 h 3472"/>
                <a:gd name="T32" fmla="*/ 1729 w 2831"/>
                <a:gd name="T33" fmla="*/ 3283 h 3472"/>
                <a:gd name="T34" fmla="*/ 1540 w 2831"/>
                <a:gd name="T35" fmla="*/ 2827 h 3472"/>
                <a:gd name="T36" fmla="*/ 1729 w 2831"/>
                <a:gd name="T37" fmla="*/ 2371 h 3472"/>
                <a:gd name="T38" fmla="*/ 2186 w 2831"/>
                <a:gd name="T39" fmla="*/ 2182 h 3472"/>
                <a:gd name="T40" fmla="*/ 1540 w 2831"/>
                <a:gd name="T41" fmla="*/ 2083 h 3472"/>
                <a:gd name="T42" fmla="*/ 914 w 2831"/>
                <a:gd name="T43" fmla="*/ 2123 h 3472"/>
                <a:gd name="T44" fmla="*/ 928 w 2831"/>
                <a:gd name="T45" fmla="*/ 1986 h 3472"/>
                <a:gd name="T46" fmla="*/ 807 w 2831"/>
                <a:gd name="T47" fmla="*/ 1957 h 3472"/>
                <a:gd name="T48" fmla="*/ 439 w 2831"/>
                <a:gd name="T49" fmla="*/ 2088 h 3472"/>
                <a:gd name="T50" fmla="*/ 470 w 2831"/>
                <a:gd name="T51" fmla="*/ 2007 h 3472"/>
                <a:gd name="T52" fmla="*/ 944 w 2831"/>
                <a:gd name="T53" fmla="*/ 1588 h 3472"/>
                <a:gd name="T54" fmla="*/ 1786 w 2831"/>
                <a:gd name="T55" fmla="*/ 1702 h 3472"/>
                <a:gd name="T56" fmla="*/ 904 w 2831"/>
                <a:gd name="T57" fmla="*/ 1716 h 3472"/>
                <a:gd name="T58" fmla="*/ 944 w 2831"/>
                <a:gd name="T59" fmla="*/ 1588 h 3472"/>
                <a:gd name="T60" fmla="*/ 800 w 2831"/>
                <a:gd name="T61" fmla="*/ 1548 h 3472"/>
                <a:gd name="T62" fmla="*/ 430 w 2831"/>
                <a:gd name="T63" fmla="*/ 1656 h 3472"/>
                <a:gd name="T64" fmla="*/ 484 w 2831"/>
                <a:gd name="T65" fmla="*/ 1589 h 3472"/>
                <a:gd name="T66" fmla="*/ 1738 w 2831"/>
                <a:gd name="T67" fmla="*/ 1140 h 3472"/>
                <a:gd name="T68" fmla="*/ 1778 w 2831"/>
                <a:gd name="T69" fmla="*/ 1269 h 3472"/>
                <a:gd name="T70" fmla="*/ 896 w 2831"/>
                <a:gd name="T71" fmla="*/ 1255 h 3472"/>
                <a:gd name="T72" fmla="*/ 769 w 2831"/>
                <a:gd name="T73" fmla="*/ 1030 h 3472"/>
                <a:gd name="T74" fmla="*/ 616 w 2831"/>
                <a:gd name="T75" fmla="*/ 1312 h 3472"/>
                <a:gd name="T76" fmla="*/ 423 w 2831"/>
                <a:gd name="T77" fmla="*/ 1202 h 3472"/>
                <a:gd name="T78" fmla="*/ 496 w 2831"/>
                <a:gd name="T79" fmla="*/ 1154 h 3472"/>
                <a:gd name="T80" fmla="*/ 548 w 2831"/>
                <a:gd name="T81" fmla="*/ 372 h 3472"/>
                <a:gd name="T82" fmla="*/ 681 w 2831"/>
                <a:gd name="T83" fmla="*/ 618 h 3472"/>
                <a:gd name="T84" fmla="*/ 1588 w 2831"/>
                <a:gd name="T85" fmla="*/ 597 h 3472"/>
                <a:gd name="T86" fmla="*/ 1683 w 2831"/>
                <a:gd name="T87" fmla="*/ 347 h 3472"/>
                <a:gd name="T88" fmla="*/ 2201 w 2831"/>
                <a:gd name="T89" fmla="*/ 438 h 3472"/>
                <a:gd name="T90" fmla="*/ 2118 w 2831"/>
                <a:gd name="T91" fmla="*/ 2037 h 3472"/>
                <a:gd name="T92" fmla="*/ 1412 w 2831"/>
                <a:gd name="T93" fmla="*/ 3005 h 3472"/>
                <a:gd name="T94" fmla="*/ 47 w 2831"/>
                <a:gd name="T95" fmla="*/ 3054 h 3472"/>
                <a:gd name="T96" fmla="*/ 21 w 2831"/>
                <a:gd name="T97" fmla="*/ 455 h 3472"/>
                <a:gd name="T98" fmla="*/ 1118 w 2831"/>
                <a:gd name="T99" fmla="*/ 99 h 3472"/>
                <a:gd name="T100" fmla="*/ 1053 w 2831"/>
                <a:gd name="T101" fmla="*/ 211 h 3472"/>
                <a:gd name="T102" fmla="*/ 1182 w 2831"/>
                <a:gd name="T103" fmla="*/ 211 h 3472"/>
                <a:gd name="T104" fmla="*/ 1118 w 2831"/>
                <a:gd name="T105" fmla="*/ 99 h 3472"/>
                <a:gd name="T106" fmla="*/ 1268 w 2831"/>
                <a:gd name="T107" fmla="*/ 85 h 3472"/>
                <a:gd name="T108" fmla="*/ 1328 w 2831"/>
                <a:gd name="T109" fmla="*/ 238 h 3472"/>
                <a:gd name="T110" fmla="*/ 1564 w 2831"/>
                <a:gd name="T111" fmla="*/ 312 h 3472"/>
                <a:gd name="T112" fmla="*/ 1547 w 2831"/>
                <a:gd name="T113" fmla="*/ 503 h 3472"/>
                <a:gd name="T114" fmla="*/ 711 w 2831"/>
                <a:gd name="T115" fmla="*/ 521 h 3472"/>
                <a:gd name="T116" fmla="*/ 657 w 2831"/>
                <a:gd name="T117" fmla="*/ 338 h 3472"/>
                <a:gd name="T118" fmla="*/ 889 w 2831"/>
                <a:gd name="T119" fmla="*/ 245 h 3472"/>
                <a:gd name="T120" fmla="*/ 954 w 2831"/>
                <a:gd name="T121" fmla="*/ 112 h 3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31" h="3472">
                  <a:moveTo>
                    <a:pt x="2538" y="2529"/>
                  </a:moveTo>
                  <a:lnTo>
                    <a:pt x="2517" y="2531"/>
                  </a:lnTo>
                  <a:lnTo>
                    <a:pt x="2496" y="2537"/>
                  </a:lnTo>
                  <a:lnTo>
                    <a:pt x="2476" y="2547"/>
                  </a:lnTo>
                  <a:lnTo>
                    <a:pt x="2459" y="2563"/>
                  </a:lnTo>
                  <a:lnTo>
                    <a:pt x="2124" y="2939"/>
                  </a:lnTo>
                  <a:lnTo>
                    <a:pt x="1950" y="2800"/>
                  </a:lnTo>
                  <a:lnTo>
                    <a:pt x="1930" y="2787"/>
                  </a:lnTo>
                  <a:lnTo>
                    <a:pt x="1909" y="2780"/>
                  </a:lnTo>
                  <a:lnTo>
                    <a:pt x="1888" y="2778"/>
                  </a:lnTo>
                  <a:lnTo>
                    <a:pt x="1866" y="2780"/>
                  </a:lnTo>
                  <a:lnTo>
                    <a:pt x="1845" y="2787"/>
                  </a:lnTo>
                  <a:lnTo>
                    <a:pt x="1826" y="2799"/>
                  </a:lnTo>
                  <a:lnTo>
                    <a:pt x="1810" y="2814"/>
                  </a:lnTo>
                  <a:lnTo>
                    <a:pt x="1797" y="2834"/>
                  </a:lnTo>
                  <a:lnTo>
                    <a:pt x="1791" y="2855"/>
                  </a:lnTo>
                  <a:lnTo>
                    <a:pt x="1788" y="2876"/>
                  </a:lnTo>
                  <a:lnTo>
                    <a:pt x="1791" y="2899"/>
                  </a:lnTo>
                  <a:lnTo>
                    <a:pt x="1797" y="2920"/>
                  </a:lnTo>
                  <a:lnTo>
                    <a:pt x="1809" y="2938"/>
                  </a:lnTo>
                  <a:lnTo>
                    <a:pt x="1826" y="2954"/>
                  </a:lnTo>
                  <a:lnTo>
                    <a:pt x="2073" y="3152"/>
                  </a:lnTo>
                  <a:lnTo>
                    <a:pt x="2093" y="3165"/>
                  </a:lnTo>
                  <a:lnTo>
                    <a:pt x="2114" y="3172"/>
                  </a:lnTo>
                  <a:lnTo>
                    <a:pt x="2135" y="3174"/>
                  </a:lnTo>
                  <a:lnTo>
                    <a:pt x="2156" y="3172"/>
                  </a:lnTo>
                  <a:lnTo>
                    <a:pt x="2175" y="3166"/>
                  </a:lnTo>
                  <a:lnTo>
                    <a:pt x="2194" y="3155"/>
                  </a:lnTo>
                  <a:lnTo>
                    <a:pt x="2210" y="3142"/>
                  </a:lnTo>
                  <a:lnTo>
                    <a:pt x="2607" y="2694"/>
                  </a:lnTo>
                  <a:lnTo>
                    <a:pt x="2620" y="2676"/>
                  </a:lnTo>
                  <a:lnTo>
                    <a:pt x="2628" y="2656"/>
                  </a:lnTo>
                  <a:lnTo>
                    <a:pt x="2633" y="2633"/>
                  </a:lnTo>
                  <a:lnTo>
                    <a:pt x="2631" y="2612"/>
                  </a:lnTo>
                  <a:lnTo>
                    <a:pt x="2625" y="2591"/>
                  </a:lnTo>
                  <a:lnTo>
                    <a:pt x="2615" y="2571"/>
                  </a:lnTo>
                  <a:lnTo>
                    <a:pt x="2599" y="2555"/>
                  </a:lnTo>
                  <a:lnTo>
                    <a:pt x="2580" y="2542"/>
                  </a:lnTo>
                  <a:lnTo>
                    <a:pt x="2560" y="2534"/>
                  </a:lnTo>
                  <a:lnTo>
                    <a:pt x="2538" y="2529"/>
                  </a:lnTo>
                  <a:close/>
                  <a:moveTo>
                    <a:pt x="944" y="2430"/>
                  </a:moveTo>
                  <a:lnTo>
                    <a:pt x="1391" y="2430"/>
                  </a:lnTo>
                  <a:lnTo>
                    <a:pt x="1406" y="2433"/>
                  </a:lnTo>
                  <a:lnTo>
                    <a:pt x="1420" y="2440"/>
                  </a:lnTo>
                  <a:lnTo>
                    <a:pt x="1431" y="2450"/>
                  </a:lnTo>
                  <a:lnTo>
                    <a:pt x="1438" y="2464"/>
                  </a:lnTo>
                  <a:lnTo>
                    <a:pt x="1440" y="2480"/>
                  </a:lnTo>
                  <a:lnTo>
                    <a:pt x="1440" y="2529"/>
                  </a:lnTo>
                  <a:lnTo>
                    <a:pt x="1438" y="2545"/>
                  </a:lnTo>
                  <a:lnTo>
                    <a:pt x="1431" y="2559"/>
                  </a:lnTo>
                  <a:lnTo>
                    <a:pt x="1420" y="2569"/>
                  </a:lnTo>
                  <a:lnTo>
                    <a:pt x="1406" y="2577"/>
                  </a:lnTo>
                  <a:lnTo>
                    <a:pt x="1391" y="2579"/>
                  </a:lnTo>
                  <a:lnTo>
                    <a:pt x="944" y="2579"/>
                  </a:lnTo>
                  <a:lnTo>
                    <a:pt x="928" y="2577"/>
                  </a:lnTo>
                  <a:lnTo>
                    <a:pt x="914" y="2569"/>
                  </a:lnTo>
                  <a:lnTo>
                    <a:pt x="904" y="2559"/>
                  </a:lnTo>
                  <a:lnTo>
                    <a:pt x="896" y="2545"/>
                  </a:lnTo>
                  <a:lnTo>
                    <a:pt x="894" y="2529"/>
                  </a:lnTo>
                  <a:lnTo>
                    <a:pt x="894" y="2480"/>
                  </a:lnTo>
                  <a:lnTo>
                    <a:pt x="896" y="2464"/>
                  </a:lnTo>
                  <a:lnTo>
                    <a:pt x="904" y="2450"/>
                  </a:lnTo>
                  <a:lnTo>
                    <a:pt x="914" y="2440"/>
                  </a:lnTo>
                  <a:lnTo>
                    <a:pt x="928" y="2433"/>
                  </a:lnTo>
                  <a:lnTo>
                    <a:pt x="944" y="2430"/>
                  </a:lnTo>
                  <a:close/>
                  <a:moveTo>
                    <a:pt x="769" y="2319"/>
                  </a:moveTo>
                  <a:lnTo>
                    <a:pt x="783" y="2322"/>
                  </a:lnTo>
                  <a:lnTo>
                    <a:pt x="795" y="2330"/>
                  </a:lnTo>
                  <a:lnTo>
                    <a:pt x="805" y="2341"/>
                  </a:lnTo>
                  <a:lnTo>
                    <a:pt x="810" y="2355"/>
                  </a:lnTo>
                  <a:lnTo>
                    <a:pt x="810" y="2368"/>
                  </a:lnTo>
                  <a:lnTo>
                    <a:pt x="807" y="2382"/>
                  </a:lnTo>
                  <a:lnTo>
                    <a:pt x="800" y="2395"/>
                  </a:lnTo>
                  <a:lnTo>
                    <a:pt x="616" y="2600"/>
                  </a:lnTo>
                  <a:lnTo>
                    <a:pt x="606" y="2608"/>
                  </a:lnTo>
                  <a:lnTo>
                    <a:pt x="594" y="2613"/>
                  </a:lnTo>
                  <a:lnTo>
                    <a:pt x="581" y="2616"/>
                  </a:lnTo>
                  <a:lnTo>
                    <a:pt x="567" y="2612"/>
                  </a:lnTo>
                  <a:lnTo>
                    <a:pt x="553" y="2605"/>
                  </a:lnTo>
                  <a:lnTo>
                    <a:pt x="439" y="2514"/>
                  </a:lnTo>
                  <a:lnTo>
                    <a:pt x="430" y="2503"/>
                  </a:lnTo>
                  <a:lnTo>
                    <a:pt x="423" y="2490"/>
                  </a:lnTo>
                  <a:lnTo>
                    <a:pt x="422" y="2477"/>
                  </a:lnTo>
                  <a:lnTo>
                    <a:pt x="425" y="2463"/>
                  </a:lnTo>
                  <a:lnTo>
                    <a:pt x="432" y="2449"/>
                  </a:lnTo>
                  <a:lnTo>
                    <a:pt x="442" y="2440"/>
                  </a:lnTo>
                  <a:lnTo>
                    <a:pt x="456" y="2435"/>
                  </a:lnTo>
                  <a:lnTo>
                    <a:pt x="470" y="2433"/>
                  </a:lnTo>
                  <a:lnTo>
                    <a:pt x="484" y="2436"/>
                  </a:lnTo>
                  <a:lnTo>
                    <a:pt x="496" y="2443"/>
                  </a:lnTo>
                  <a:lnTo>
                    <a:pt x="576" y="2507"/>
                  </a:lnTo>
                  <a:lnTo>
                    <a:pt x="731" y="2334"/>
                  </a:lnTo>
                  <a:lnTo>
                    <a:pt x="742" y="2324"/>
                  </a:lnTo>
                  <a:lnTo>
                    <a:pt x="755" y="2320"/>
                  </a:lnTo>
                  <a:lnTo>
                    <a:pt x="769" y="2319"/>
                  </a:lnTo>
                  <a:close/>
                  <a:moveTo>
                    <a:pt x="2186" y="2182"/>
                  </a:moveTo>
                  <a:lnTo>
                    <a:pt x="2251" y="2185"/>
                  </a:lnTo>
                  <a:lnTo>
                    <a:pt x="2316" y="2196"/>
                  </a:lnTo>
                  <a:lnTo>
                    <a:pt x="2378" y="2212"/>
                  </a:lnTo>
                  <a:lnTo>
                    <a:pt x="2437" y="2233"/>
                  </a:lnTo>
                  <a:lnTo>
                    <a:pt x="2494" y="2260"/>
                  </a:lnTo>
                  <a:lnTo>
                    <a:pt x="2546" y="2293"/>
                  </a:lnTo>
                  <a:lnTo>
                    <a:pt x="2596" y="2329"/>
                  </a:lnTo>
                  <a:lnTo>
                    <a:pt x="2642" y="2371"/>
                  </a:lnTo>
                  <a:lnTo>
                    <a:pt x="2683" y="2417"/>
                  </a:lnTo>
                  <a:lnTo>
                    <a:pt x="2721" y="2466"/>
                  </a:lnTo>
                  <a:lnTo>
                    <a:pt x="2753" y="2520"/>
                  </a:lnTo>
                  <a:lnTo>
                    <a:pt x="2780" y="2577"/>
                  </a:lnTo>
                  <a:lnTo>
                    <a:pt x="2802" y="2636"/>
                  </a:lnTo>
                  <a:lnTo>
                    <a:pt x="2818" y="2698"/>
                  </a:lnTo>
                  <a:lnTo>
                    <a:pt x="2828" y="2761"/>
                  </a:lnTo>
                  <a:lnTo>
                    <a:pt x="2831" y="2827"/>
                  </a:lnTo>
                  <a:lnTo>
                    <a:pt x="2828" y="2893"/>
                  </a:lnTo>
                  <a:lnTo>
                    <a:pt x="2818" y="2958"/>
                  </a:lnTo>
                  <a:lnTo>
                    <a:pt x="2802" y="3019"/>
                  </a:lnTo>
                  <a:lnTo>
                    <a:pt x="2780" y="3079"/>
                  </a:lnTo>
                  <a:lnTo>
                    <a:pt x="2753" y="3134"/>
                  </a:lnTo>
                  <a:lnTo>
                    <a:pt x="2721" y="3188"/>
                  </a:lnTo>
                  <a:lnTo>
                    <a:pt x="2683" y="3237"/>
                  </a:lnTo>
                  <a:lnTo>
                    <a:pt x="2642" y="3283"/>
                  </a:lnTo>
                  <a:lnTo>
                    <a:pt x="2596" y="3325"/>
                  </a:lnTo>
                  <a:lnTo>
                    <a:pt x="2546" y="3362"/>
                  </a:lnTo>
                  <a:lnTo>
                    <a:pt x="2494" y="3394"/>
                  </a:lnTo>
                  <a:lnTo>
                    <a:pt x="2437" y="3421"/>
                  </a:lnTo>
                  <a:lnTo>
                    <a:pt x="2378" y="3443"/>
                  </a:lnTo>
                  <a:lnTo>
                    <a:pt x="2316" y="3459"/>
                  </a:lnTo>
                  <a:lnTo>
                    <a:pt x="2251" y="3469"/>
                  </a:lnTo>
                  <a:lnTo>
                    <a:pt x="2186" y="3472"/>
                  </a:lnTo>
                  <a:lnTo>
                    <a:pt x="2120" y="3469"/>
                  </a:lnTo>
                  <a:lnTo>
                    <a:pt x="2055" y="3459"/>
                  </a:lnTo>
                  <a:lnTo>
                    <a:pt x="1993" y="3443"/>
                  </a:lnTo>
                  <a:lnTo>
                    <a:pt x="1934" y="3421"/>
                  </a:lnTo>
                  <a:lnTo>
                    <a:pt x="1877" y="3394"/>
                  </a:lnTo>
                  <a:lnTo>
                    <a:pt x="1825" y="3362"/>
                  </a:lnTo>
                  <a:lnTo>
                    <a:pt x="1775" y="3325"/>
                  </a:lnTo>
                  <a:lnTo>
                    <a:pt x="1729" y="3283"/>
                  </a:lnTo>
                  <a:lnTo>
                    <a:pt x="1688" y="3237"/>
                  </a:lnTo>
                  <a:lnTo>
                    <a:pt x="1650" y="3188"/>
                  </a:lnTo>
                  <a:lnTo>
                    <a:pt x="1618" y="3134"/>
                  </a:lnTo>
                  <a:lnTo>
                    <a:pt x="1591" y="3079"/>
                  </a:lnTo>
                  <a:lnTo>
                    <a:pt x="1569" y="3019"/>
                  </a:lnTo>
                  <a:lnTo>
                    <a:pt x="1553" y="2958"/>
                  </a:lnTo>
                  <a:lnTo>
                    <a:pt x="1543" y="2893"/>
                  </a:lnTo>
                  <a:lnTo>
                    <a:pt x="1540" y="2827"/>
                  </a:lnTo>
                  <a:lnTo>
                    <a:pt x="1543" y="2761"/>
                  </a:lnTo>
                  <a:lnTo>
                    <a:pt x="1553" y="2698"/>
                  </a:lnTo>
                  <a:lnTo>
                    <a:pt x="1569" y="2636"/>
                  </a:lnTo>
                  <a:lnTo>
                    <a:pt x="1591" y="2577"/>
                  </a:lnTo>
                  <a:lnTo>
                    <a:pt x="1618" y="2520"/>
                  </a:lnTo>
                  <a:lnTo>
                    <a:pt x="1650" y="2466"/>
                  </a:lnTo>
                  <a:lnTo>
                    <a:pt x="1688" y="2417"/>
                  </a:lnTo>
                  <a:lnTo>
                    <a:pt x="1729" y="2371"/>
                  </a:lnTo>
                  <a:lnTo>
                    <a:pt x="1775" y="2329"/>
                  </a:lnTo>
                  <a:lnTo>
                    <a:pt x="1825" y="2293"/>
                  </a:lnTo>
                  <a:lnTo>
                    <a:pt x="1877" y="2260"/>
                  </a:lnTo>
                  <a:lnTo>
                    <a:pt x="1934" y="2233"/>
                  </a:lnTo>
                  <a:lnTo>
                    <a:pt x="1993" y="2212"/>
                  </a:lnTo>
                  <a:lnTo>
                    <a:pt x="2055" y="2196"/>
                  </a:lnTo>
                  <a:lnTo>
                    <a:pt x="2120" y="2185"/>
                  </a:lnTo>
                  <a:lnTo>
                    <a:pt x="2186" y="2182"/>
                  </a:lnTo>
                  <a:close/>
                  <a:moveTo>
                    <a:pt x="944" y="1984"/>
                  </a:moveTo>
                  <a:lnTo>
                    <a:pt x="1491" y="1984"/>
                  </a:lnTo>
                  <a:lnTo>
                    <a:pt x="1505" y="1986"/>
                  </a:lnTo>
                  <a:lnTo>
                    <a:pt x="1519" y="1994"/>
                  </a:lnTo>
                  <a:lnTo>
                    <a:pt x="1531" y="2004"/>
                  </a:lnTo>
                  <a:lnTo>
                    <a:pt x="1537" y="2018"/>
                  </a:lnTo>
                  <a:lnTo>
                    <a:pt x="1540" y="2034"/>
                  </a:lnTo>
                  <a:lnTo>
                    <a:pt x="1540" y="2083"/>
                  </a:lnTo>
                  <a:lnTo>
                    <a:pt x="1537" y="2099"/>
                  </a:lnTo>
                  <a:lnTo>
                    <a:pt x="1531" y="2113"/>
                  </a:lnTo>
                  <a:lnTo>
                    <a:pt x="1519" y="2123"/>
                  </a:lnTo>
                  <a:lnTo>
                    <a:pt x="1505" y="2131"/>
                  </a:lnTo>
                  <a:lnTo>
                    <a:pt x="1491" y="2133"/>
                  </a:lnTo>
                  <a:lnTo>
                    <a:pt x="944" y="2133"/>
                  </a:lnTo>
                  <a:lnTo>
                    <a:pt x="928" y="2131"/>
                  </a:lnTo>
                  <a:lnTo>
                    <a:pt x="914" y="2123"/>
                  </a:lnTo>
                  <a:lnTo>
                    <a:pt x="904" y="2113"/>
                  </a:lnTo>
                  <a:lnTo>
                    <a:pt x="896" y="2099"/>
                  </a:lnTo>
                  <a:lnTo>
                    <a:pt x="894" y="2083"/>
                  </a:lnTo>
                  <a:lnTo>
                    <a:pt x="894" y="2034"/>
                  </a:lnTo>
                  <a:lnTo>
                    <a:pt x="896" y="2018"/>
                  </a:lnTo>
                  <a:lnTo>
                    <a:pt x="904" y="2004"/>
                  </a:lnTo>
                  <a:lnTo>
                    <a:pt x="914" y="1994"/>
                  </a:lnTo>
                  <a:lnTo>
                    <a:pt x="928" y="1986"/>
                  </a:lnTo>
                  <a:lnTo>
                    <a:pt x="944" y="1984"/>
                  </a:lnTo>
                  <a:close/>
                  <a:moveTo>
                    <a:pt x="769" y="1894"/>
                  </a:moveTo>
                  <a:lnTo>
                    <a:pt x="783" y="1897"/>
                  </a:lnTo>
                  <a:lnTo>
                    <a:pt x="795" y="1905"/>
                  </a:lnTo>
                  <a:lnTo>
                    <a:pt x="805" y="1916"/>
                  </a:lnTo>
                  <a:lnTo>
                    <a:pt x="810" y="1930"/>
                  </a:lnTo>
                  <a:lnTo>
                    <a:pt x="810" y="1943"/>
                  </a:lnTo>
                  <a:lnTo>
                    <a:pt x="807" y="1957"/>
                  </a:lnTo>
                  <a:lnTo>
                    <a:pt x="800" y="1970"/>
                  </a:lnTo>
                  <a:lnTo>
                    <a:pt x="616" y="2175"/>
                  </a:lnTo>
                  <a:lnTo>
                    <a:pt x="606" y="2183"/>
                  </a:lnTo>
                  <a:lnTo>
                    <a:pt x="594" y="2188"/>
                  </a:lnTo>
                  <a:lnTo>
                    <a:pt x="581" y="2191"/>
                  </a:lnTo>
                  <a:lnTo>
                    <a:pt x="567" y="2187"/>
                  </a:lnTo>
                  <a:lnTo>
                    <a:pt x="553" y="2180"/>
                  </a:lnTo>
                  <a:lnTo>
                    <a:pt x="439" y="2088"/>
                  </a:lnTo>
                  <a:lnTo>
                    <a:pt x="430" y="2078"/>
                  </a:lnTo>
                  <a:lnTo>
                    <a:pt x="423" y="2065"/>
                  </a:lnTo>
                  <a:lnTo>
                    <a:pt x="422" y="2052"/>
                  </a:lnTo>
                  <a:lnTo>
                    <a:pt x="425" y="2038"/>
                  </a:lnTo>
                  <a:lnTo>
                    <a:pt x="432" y="2024"/>
                  </a:lnTo>
                  <a:lnTo>
                    <a:pt x="442" y="2015"/>
                  </a:lnTo>
                  <a:lnTo>
                    <a:pt x="456" y="2010"/>
                  </a:lnTo>
                  <a:lnTo>
                    <a:pt x="470" y="2007"/>
                  </a:lnTo>
                  <a:lnTo>
                    <a:pt x="484" y="2011"/>
                  </a:lnTo>
                  <a:lnTo>
                    <a:pt x="496" y="2018"/>
                  </a:lnTo>
                  <a:lnTo>
                    <a:pt x="576" y="2082"/>
                  </a:lnTo>
                  <a:lnTo>
                    <a:pt x="731" y="1909"/>
                  </a:lnTo>
                  <a:lnTo>
                    <a:pt x="742" y="1899"/>
                  </a:lnTo>
                  <a:lnTo>
                    <a:pt x="755" y="1895"/>
                  </a:lnTo>
                  <a:lnTo>
                    <a:pt x="769" y="1894"/>
                  </a:lnTo>
                  <a:close/>
                  <a:moveTo>
                    <a:pt x="944" y="1588"/>
                  </a:moveTo>
                  <a:lnTo>
                    <a:pt x="1738" y="1588"/>
                  </a:lnTo>
                  <a:lnTo>
                    <a:pt x="1754" y="1590"/>
                  </a:lnTo>
                  <a:lnTo>
                    <a:pt x="1768" y="1597"/>
                  </a:lnTo>
                  <a:lnTo>
                    <a:pt x="1778" y="1608"/>
                  </a:lnTo>
                  <a:lnTo>
                    <a:pt x="1786" y="1621"/>
                  </a:lnTo>
                  <a:lnTo>
                    <a:pt x="1788" y="1637"/>
                  </a:lnTo>
                  <a:lnTo>
                    <a:pt x="1788" y="1687"/>
                  </a:lnTo>
                  <a:lnTo>
                    <a:pt x="1786" y="1702"/>
                  </a:lnTo>
                  <a:lnTo>
                    <a:pt x="1778" y="1716"/>
                  </a:lnTo>
                  <a:lnTo>
                    <a:pt x="1768" y="1727"/>
                  </a:lnTo>
                  <a:lnTo>
                    <a:pt x="1754" y="1734"/>
                  </a:lnTo>
                  <a:lnTo>
                    <a:pt x="1738" y="1736"/>
                  </a:lnTo>
                  <a:lnTo>
                    <a:pt x="944" y="1736"/>
                  </a:lnTo>
                  <a:lnTo>
                    <a:pt x="928" y="1734"/>
                  </a:lnTo>
                  <a:lnTo>
                    <a:pt x="914" y="1727"/>
                  </a:lnTo>
                  <a:lnTo>
                    <a:pt x="904" y="1716"/>
                  </a:lnTo>
                  <a:lnTo>
                    <a:pt x="896" y="1702"/>
                  </a:lnTo>
                  <a:lnTo>
                    <a:pt x="894" y="1687"/>
                  </a:lnTo>
                  <a:lnTo>
                    <a:pt x="894" y="1637"/>
                  </a:lnTo>
                  <a:lnTo>
                    <a:pt x="896" y="1621"/>
                  </a:lnTo>
                  <a:lnTo>
                    <a:pt x="904" y="1608"/>
                  </a:lnTo>
                  <a:lnTo>
                    <a:pt x="914" y="1597"/>
                  </a:lnTo>
                  <a:lnTo>
                    <a:pt x="928" y="1590"/>
                  </a:lnTo>
                  <a:lnTo>
                    <a:pt x="944" y="1588"/>
                  </a:lnTo>
                  <a:close/>
                  <a:moveTo>
                    <a:pt x="769" y="1472"/>
                  </a:moveTo>
                  <a:lnTo>
                    <a:pt x="783" y="1475"/>
                  </a:lnTo>
                  <a:lnTo>
                    <a:pt x="795" y="1483"/>
                  </a:lnTo>
                  <a:lnTo>
                    <a:pt x="805" y="1494"/>
                  </a:lnTo>
                  <a:lnTo>
                    <a:pt x="810" y="1508"/>
                  </a:lnTo>
                  <a:lnTo>
                    <a:pt x="810" y="1521"/>
                  </a:lnTo>
                  <a:lnTo>
                    <a:pt x="807" y="1535"/>
                  </a:lnTo>
                  <a:lnTo>
                    <a:pt x="800" y="1548"/>
                  </a:lnTo>
                  <a:lnTo>
                    <a:pt x="616" y="1753"/>
                  </a:lnTo>
                  <a:lnTo>
                    <a:pt x="606" y="1761"/>
                  </a:lnTo>
                  <a:lnTo>
                    <a:pt x="594" y="1767"/>
                  </a:lnTo>
                  <a:lnTo>
                    <a:pt x="581" y="1769"/>
                  </a:lnTo>
                  <a:lnTo>
                    <a:pt x="567" y="1765"/>
                  </a:lnTo>
                  <a:lnTo>
                    <a:pt x="553" y="1758"/>
                  </a:lnTo>
                  <a:lnTo>
                    <a:pt x="439" y="1667"/>
                  </a:lnTo>
                  <a:lnTo>
                    <a:pt x="430" y="1656"/>
                  </a:lnTo>
                  <a:lnTo>
                    <a:pt x="423" y="1643"/>
                  </a:lnTo>
                  <a:lnTo>
                    <a:pt x="422" y="1630"/>
                  </a:lnTo>
                  <a:lnTo>
                    <a:pt x="425" y="1615"/>
                  </a:lnTo>
                  <a:lnTo>
                    <a:pt x="432" y="1602"/>
                  </a:lnTo>
                  <a:lnTo>
                    <a:pt x="442" y="1593"/>
                  </a:lnTo>
                  <a:lnTo>
                    <a:pt x="456" y="1588"/>
                  </a:lnTo>
                  <a:lnTo>
                    <a:pt x="470" y="1586"/>
                  </a:lnTo>
                  <a:lnTo>
                    <a:pt x="484" y="1589"/>
                  </a:lnTo>
                  <a:lnTo>
                    <a:pt x="496" y="1596"/>
                  </a:lnTo>
                  <a:lnTo>
                    <a:pt x="576" y="1660"/>
                  </a:lnTo>
                  <a:lnTo>
                    <a:pt x="731" y="1487"/>
                  </a:lnTo>
                  <a:lnTo>
                    <a:pt x="742" y="1477"/>
                  </a:lnTo>
                  <a:lnTo>
                    <a:pt x="755" y="1473"/>
                  </a:lnTo>
                  <a:lnTo>
                    <a:pt x="769" y="1472"/>
                  </a:lnTo>
                  <a:close/>
                  <a:moveTo>
                    <a:pt x="944" y="1140"/>
                  </a:moveTo>
                  <a:lnTo>
                    <a:pt x="1738" y="1140"/>
                  </a:lnTo>
                  <a:lnTo>
                    <a:pt x="1754" y="1144"/>
                  </a:lnTo>
                  <a:lnTo>
                    <a:pt x="1768" y="1150"/>
                  </a:lnTo>
                  <a:lnTo>
                    <a:pt x="1778" y="1162"/>
                  </a:lnTo>
                  <a:lnTo>
                    <a:pt x="1786" y="1175"/>
                  </a:lnTo>
                  <a:lnTo>
                    <a:pt x="1788" y="1190"/>
                  </a:lnTo>
                  <a:lnTo>
                    <a:pt x="1788" y="1240"/>
                  </a:lnTo>
                  <a:lnTo>
                    <a:pt x="1786" y="1255"/>
                  </a:lnTo>
                  <a:lnTo>
                    <a:pt x="1778" y="1269"/>
                  </a:lnTo>
                  <a:lnTo>
                    <a:pt x="1768" y="1280"/>
                  </a:lnTo>
                  <a:lnTo>
                    <a:pt x="1754" y="1287"/>
                  </a:lnTo>
                  <a:lnTo>
                    <a:pt x="1738" y="1290"/>
                  </a:lnTo>
                  <a:lnTo>
                    <a:pt x="944" y="1290"/>
                  </a:lnTo>
                  <a:lnTo>
                    <a:pt x="928" y="1287"/>
                  </a:lnTo>
                  <a:lnTo>
                    <a:pt x="914" y="1280"/>
                  </a:lnTo>
                  <a:lnTo>
                    <a:pt x="904" y="1269"/>
                  </a:lnTo>
                  <a:lnTo>
                    <a:pt x="896" y="1255"/>
                  </a:lnTo>
                  <a:lnTo>
                    <a:pt x="894" y="1240"/>
                  </a:lnTo>
                  <a:lnTo>
                    <a:pt x="894" y="1190"/>
                  </a:lnTo>
                  <a:lnTo>
                    <a:pt x="896" y="1175"/>
                  </a:lnTo>
                  <a:lnTo>
                    <a:pt x="904" y="1162"/>
                  </a:lnTo>
                  <a:lnTo>
                    <a:pt x="914" y="1150"/>
                  </a:lnTo>
                  <a:lnTo>
                    <a:pt x="928" y="1144"/>
                  </a:lnTo>
                  <a:lnTo>
                    <a:pt x="944" y="1140"/>
                  </a:lnTo>
                  <a:close/>
                  <a:moveTo>
                    <a:pt x="769" y="1030"/>
                  </a:moveTo>
                  <a:lnTo>
                    <a:pt x="783" y="1034"/>
                  </a:lnTo>
                  <a:lnTo>
                    <a:pt x="795" y="1042"/>
                  </a:lnTo>
                  <a:lnTo>
                    <a:pt x="805" y="1053"/>
                  </a:lnTo>
                  <a:lnTo>
                    <a:pt x="810" y="1066"/>
                  </a:lnTo>
                  <a:lnTo>
                    <a:pt x="810" y="1081"/>
                  </a:lnTo>
                  <a:lnTo>
                    <a:pt x="807" y="1094"/>
                  </a:lnTo>
                  <a:lnTo>
                    <a:pt x="800" y="1106"/>
                  </a:lnTo>
                  <a:lnTo>
                    <a:pt x="616" y="1312"/>
                  </a:lnTo>
                  <a:lnTo>
                    <a:pt x="606" y="1320"/>
                  </a:lnTo>
                  <a:lnTo>
                    <a:pt x="594" y="1326"/>
                  </a:lnTo>
                  <a:lnTo>
                    <a:pt x="581" y="1327"/>
                  </a:lnTo>
                  <a:lnTo>
                    <a:pt x="567" y="1325"/>
                  </a:lnTo>
                  <a:lnTo>
                    <a:pt x="553" y="1317"/>
                  </a:lnTo>
                  <a:lnTo>
                    <a:pt x="439" y="1226"/>
                  </a:lnTo>
                  <a:lnTo>
                    <a:pt x="430" y="1215"/>
                  </a:lnTo>
                  <a:lnTo>
                    <a:pt x="423" y="1202"/>
                  </a:lnTo>
                  <a:lnTo>
                    <a:pt x="422" y="1188"/>
                  </a:lnTo>
                  <a:lnTo>
                    <a:pt x="425" y="1174"/>
                  </a:lnTo>
                  <a:lnTo>
                    <a:pt x="432" y="1162"/>
                  </a:lnTo>
                  <a:lnTo>
                    <a:pt x="442" y="1152"/>
                  </a:lnTo>
                  <a:lnTo>
                    <a:pt x="456" y="1146"/>
                  </a:lnTo>
                  <a:lnTo>
                    <a:pt x="470" y="1145"/>
                  </a:lnTo>
                  <a:lnTo>
                    <a:pt x="484" y="1147"/>
                  </a:lnTo>
                  <a:lnTo>
                    <a:pt x="496" y="1154"/>
                  </a:lnTo>
                  <a:lnTo>
                    <a:pt x="576" y="1218"/>
                  </a:lnTo>
                  <a:lnTo>
                    <a:pt x="731" y="1046"/>
                  </a:lnTo>
                  <a:lnTo>
                    <a:pt x="742" y="1036"/>
                  </a:lnTo>
                  <a:lnTo>
                    <a:pt x="755" y="1031"/>
                  </a:lnTo>
                  <a:lnTo>
                    <a:pt x="769" y="1030"/>
                  </a:lnTo>
                  <a:close/>
                  <a:moveTo>
                    <a:pt x="150" y="347"/>
                  </a:moveTo>
                  <a:lnTo>
                    <a:pt x="552" y="347"/>
                  </a:lnTo>
                  <a:lnTo>
                    <a:pt x="548" y="372"/>
                  </a:lnTo>
                  <a:lnTo>
                    <a:pt x="547" y="399"/>
                  </a:lnTo>
                  <a:lnTo>
                    <a:pt x="550" y="439"/>
                  </a:lnTo>
                  <a:lnTo>
                    <a:pt x="559" y="477"/>
                  </a:lnTo>
                  <a:lnTo>
                    <a:pt x="574" y="511"/>
                  </a:lnTo>
                  <a:lnTo>
                    <a:pt x="594" y="544"/>
                  </a:lnTo>
                  <a:lnTo>
                    <a:pt x="618" y="572"/>
                  </a:lnTo>
                  <a:lnTo>
                    <a:pt x="648" y="598"/>
                  </a:lnTo>
                  <a:lnTo>
                    <a:pt x="681" y="618"/>
                  </a:lnTo>
                  <a:lnTo>
                    <a:pt x="715" y="632"/>
                  </a:lnTo>
                  <a:lnTo>
                    <a:pt x="753" y="642"/>
                  </a:lnTo>
                  <a:lnTo>
                    <a:pt x="793" y="645"/>
                  </a:lnTo>
                  <a:lnTo>
                    <a:pt x="1442" y="645"/>
                  </a:lnTo>
                  <a:lnTo>
                    <a:pt x="1482" y="642"/>
                  </a:lnTo>
                  <a:lnTo>
                    <a:pt x="1520" y="632"/>
                  </a:lnTo>
                  <a:lnTo>
                    <a:pt x="1555" y="618"/>
                  </a:lnTo>
                  <a:lnTo>
                    <a:pt x="1588" y="597"/>
                  </a:lnTo>
                  <a:lnTo>
                    <a:pt x="1616" y="572"/>
                  </a:lnTo>
                  <a:lnTo>
                    <a:pt x="1641" y="543"/>
                  </a:lnTo>
                  <a:lnTo>
                    <a:pt x="1661" y="510"/>
                  </a:lnTo>
                  <a:lnTo>
                    <a:pt x="1676" y="475"/>
                  </a:lnTo>
                  <a:lnTo>
                    <a:pt x="1686" y="436"/>
                  </a:lnTo>
                  <a:lnTo>
                    <a:pt x="1689" y="396"/>
                  </a:lnTo>
                  <a:lnTo>
                    <a:pt x="1688" y="371"/>
                  </a:lnTo>
                  <a:lnTo>
                    <a:pt x="1683" y="347"/>
                  </a:lnTo>
                  <a:lnTo>
                    <a:pt x="1987" y="347"/>
                  </a:lnTo>
                  <a:lnTo>
                    <a:pt x="2029" y="349"/>
                  </a:lnTo>
                  <a:lnTo>
                    <a:pt x="2067" y="356"/>
                  </a:lnTo>
                  <a:lnTo>
                    <a:pt x="2101" y="366"/>
                  </a:lnTo>
                  <a:lnTo>
                    <a:pt x="2132" y="379"/>
                  </a:lnTo>
                  <a:lnTo>
                    <a:pt x="2159" y="396"/>
                  </a:lnTo>
                  <a:lnTo>
                    <a:pt x="2182" y="416"/>
                  </a:lnTo>
                  <a:lnTo>
                    <a:pt x="2201" y="438"/>
                  </a:lnTo>
                  <a:lnTo>
                    <a:pt x="2215" y="462"/>
                  </a:lnTo>
                  <a:lnTo>
                    <a:pt x="2226" y="488"/>
                  </a:lnTo>
                  <a:lnTo>
                    <a:pt x="2233" y="517"/>
                  </a:lnTo>
                  <a:lnTo>
                    <a:pt x="2235" y="546"/>
                  </a:lnTo>
                  <a:lnTo>
                    <a:pt x="2235" y="2036"/>
                  </a:lnTo>
                  <a:lnTo>
                    <a:pt x="2210" y="2035"/>
                  </a:lnTo>
                  <a:lnTo>
                    <a:pt x="2186" y="2034"/>
                  </a:lnTo>
                  <a:lnTo>
                    <a:pt x="2118" y="2037"/>
                  </a:lnTo>
                  <a:lnTo>
                    <a:pt x="2051" y="2045"/>
                  </a:lnTo>
                  <a:lnTo>
                    <a:pt x="1987" y="2060"/>
                  </a:lnTo>
                  <a:lnTo>
                    <a:pt x="1987" y="893"/>
                  </a:lnTo>
                  <a:lnTo>
                    <a:pt x="249" y="893"/>
                  </a:lnTo>
                  <a:lnTo>
                    <a:pt x="249" y="2876"/>
                  </a:lnTo>
                  <a:lnTo>
                    <a:pt x="1394" y="2876"/>
                  </a:lnTo>
                  <a:lnTo>
                    <a:pt x="1400" y="2942"/>
                  </a:lnTo>
                  <a:lnTo>
                    <a:pt x="1412" y="3005"/>
                  </a:lnTo>
                  <a:lnTo>
                    <a:pt x="1429" y="3066"/>
                  </a:lnTo>
                  <a:lnTo>
                    <a:pt x="1450" y="3125"/>
                  </a:lnTo>
                  <a:lnTo>
                    <a:pt x="199" y="3125"/>
                  </a:lnTo>
                  <a:lnTo>
                    <a:pt x="163" y="3122"/>
                  </a:lnTo>
                  <a:lnTo>
                    <a:pt x="130" y="3112"/>
                  </a:lnTo>
                  <a:lnTo>
                    <a:pt x="99" y="3097"/>
                  </a:lnTo>
                  <a:lnTo>
                    <a:pt x="71" y="3079"/>
                  </a:lnTo>
                  <a:lnTo>
                    <a:pt x="47" y="3054"/>
                  </a:lnTo>
                  <a:lnTo>
                    <a:pt x="27" y="3027"/>
                  </a:lnTo>
                  <a:lnTo>
                    <a:pt x="13" y="2995"/>
                  </a:lnTo>
                  <a:lnTo>
                    <a:pt x="3" y="2962"/>
                  </a:lnTo>
                  <a:lnTo>
                    <a:pt x="0" y="2926"/>
                  </a:lnTo>
                  <a:lnTo>
                    <a:pt x="0" y="546"/>
                  </a:lnTo>
                  <a:lnTo>
                    <a:pt x="3" y="513"/>
                  </a:lnTo>
                  <a:lnTo>
                    <a:pt x="9" y="483"/>
                  </a:lnTo>
                  <a:lnTo>
                    <a:pt x="21" y="455"/>
                  </a:lnTo>
                  <a:lnTo>
                    <a:pt x="36" y="428"/>
                  </a:lnTo>
                  <a:lnTo>
                    <a:pt x="53" y="405"/>
                  </a:lnTo>
                  <a:lnTo>
                    <a:pt x="71" y="385"/>
                  </a:lnTo>
                  <a:lnTo>
                    <a:pt x="91" y="369"/>
                  </a:lnTo>
                  <a:lnTo>
                    <a:pt x="111" y="358"/>
                  </a:lnTo>
                  <a:lnTo>
                    <a:pt x="131" y="349"/>
                  </a:lnTo>
                  <a:lnTo>
                    <a:pt x="150" y="347"/>
                  </a:lnTo>
                  <a:close/>
                  <a:moveTo>
                    <a:pt x="1118" y="99"/>
                  </a:moveTo>
                  <a:lnTo>
                    <a:pt x="1098" y="102"/>
                  </a:lnTo>
                  <a:lnTo>
                    <a:pt x="1080" y="109"/>
                  </a:lnTo>
                  <a:lnTo>
                    <a:pt x="1065" y="121"/>
                  </a:lnTo>
                  <a:lnTo>
                    <a:pt x="1053" y="136"/>
                  </a:lnTo>
                  <a:lnTo>
                    <a:pt x="1046" y="154"/>
                  </a:lnTo>
                  <a:lnTo>
                    <a:pt x="1043" y="174"/>
                  </a:lnTo>
                  <a:lnTo>
                    <a:pt x="1046" y="194"/>
                  </a:lnTo>
                  <a:lnTo>
                    <a:pt x="1053" y="211"/>
                  </a:lnTo>
                  <a:lnTo>
                    <a:pt x="1065" y="226"/>
                  </a:lnTo>
                  <a:lnTo>
                    <a:pt x="1080" y="238"/>
                  </a:lnTo>
                  <a:lnTo>
                    <a:pt x="1098" y="245"/>
                  </a:lnTo>
                  <a:lnTo>
                    <a:pt x="1118" y="248"/>
                  </a:lnTo>
                  <a:lnTo>
                    <a:pt x="1138" y="245"/>
                  </a:lnTo>
                  <a:lnTo>
                    <a:pt x="1156" y="238"/>
                  </a:lnTo>
                  <a:lnTo>
                    <a:pt x="1170" y="226"/>
                  </a:lnTo>
                  <a:lnTo>
                    <a:pt x="1182" y="211"/>
                  </a:lnTo>
                  <a:lnTo>
                    <a:pt x="1189" y="194"/>
                  </a:lnTo>
                  <a:lnTo>
                    <a:pt x="1193" y="174"/>
                  </a:lnTo>
                  <a:lnTo>
                    <a:pt x="1189" y="154"/>
                  </a:lnTo>
                  <a:lnTo>
                    <a:pt x="1182" y="136"/>
                  </a:lnTo>
                  <a:lnTo>
                    <a:pt x="1170" y="121"/>
                  </a:lnTo>
                  <a:lnTo>
                    <a:pt x="1156" y="109"/>
                  </a:lnTo>
                  <a:lnTo>
                    <a:pt x="1138" y="102"/>
                  </a:lnTo>
                  <a:lnTo>
                    <a:pt x="1118" y="99"/>
                  </a:lnTo>
                  <a:close/>
                  <a:moveTo>
                    <a:pt x="1116" y="0"/>
                  </a:moveTo>
                  <a:lnTo>
                    <a:pt x="1120" y="0"/>
                  </a:lnTo>
                  <a:lnTo>
                    <a:pt x="1150" y="3"/>
                  </a:lnTo>
                  <a:lnTo>
                    <a:pt x="1180" y="11"/>
                  </a:lnTo>
                  <a:lnTo>
                    <a:pt x="1206" y="23"/>
                  </a:lnTo>
                  <a:lnTo>
                    <a:pt x="1230" y="40"/>
                  </a:lnTo>
                  <a:lnTo>
                    <a:pt x="1252" y="61"/>
                  </a:lnTo>
                  <a:lnTo>
                    <a:pt x="1268" y="85"/>
                  </a:lnTo>
                  <a:lnTo>
                    <a:pt x="1281" y="112"/>
                  </a:lnTo>
                  <a:lnTo>
                    <a:pt x="1288" y="141"/>
                  </a:lnTo>
                  <a:lnTo>
                    <a:pt x="1292" y="171"/>
                  </a:lnTo>
                  <a:lnTo>
                    <a:pt x="1292" y="174"/>
                  </a:lnTo>
                  <a:lnTo>
                    <a:pt x="1294" y="194"/>
                  </a:lnTo>
                  <a:lnTo>
                    <a:pt x="1302" y="211"/>
                  </a:lnTo>
                  <a:lnTo>
                    <a:pt x="1314" y="226"/>
                  </a:lnTo>
                  <a:lnTo>
                    <a:pt x="1328" y="238"/>
                  </a:lnTo>
                  <a:lnTo>
                    <a:pt x="1345" y="245"/>
                  </a:lnTo>
                  <a:lnTo>
                    <a:pt x="1365" y="248"/>
                  </a:lnTo>
                  <a:lnTo>
                    <a:pt x="1442" y="248"/>
                  </a:lnTo>
                  <a:lnTo>
                    <a:pt x="1472" y="251"/>
                  </a:lnTo>
                  <a:lnTo>
                    <a:pt x="1499" y="260"/>
                  </a:lnTo>
                  <a:lnTo>
                    <a:pt x="1524" y="274"/>
                  </a:lnTo>
                  <a:lnTo>
                    <a:pt x="1547" y="291"/>
                  </a:lnTo>
                  <a:lnTo>
                    <a:pt x="1564" y="312"/>
                  </a:lnTo>
                  <a:lnTo>
                    <a:pt x="1578" y="338"/>
                  </a:lnTo>
                  <a:lnTo>
                    <a:pt x="1587" y="366"/>
                  </a:lnTo>
                  <a:lnTo>
                    <a:pt x="1590" y="396"/>
                  </a:lnTo>
                  <a:lnTo>
                    <a:pt x="1590" y="399"/>
                  </a:lnTo>
                  <a:lnTo>
                    <a:pt x="1587" y="428"/>
                  </a:lnTo>
                  <a:lnTo>
                    <a:pt x="1578" y="456"/>
                  </a:lnTo>
                  <a:lnTo>
                    <a:pt x="1564" y="481"/>
                  </a:lnTo>
                  <a:lnTo>
                    <a:pt x="1547" y="503"/>
                  </a:lnTo>
                  <a:lnTo>
                    <a:pt x="1524" y="521"/>
                  </a:lnTo>
                  <a:lnTo>
                    <a:pt x="1499" y="534"/>
                  </a:lnTo>
                  <a:lnTo>
                    <a:pt x="1472" y="543"/>
                  </a:lnTo>
                  <a:lnTo>
                    <a:pt x="1442" y="546"/>
                  </a:lnTo>
                  <a:lnTo>
                    <a:pt x="793" y="546"/>
                  </a:lnTo>
                  <a:lnTo>
                    <a:pt x="764" y="543"/>
                  </a:lnTo>
                  <a:lnTo>
                    <a:pt x="736" y="534"/>
                  </a:lnTo>
                  <a:lnTo>
                    <a:pt x="711" y="521"/>
                  </a:lnTo>
                  <a:lnTo>
                    <a:pt x="689" y="503"/>
                  </a:lnTo>
                  <a:lnTo>
                    <a:pt x="671" y="481"/>
                  </a:lnTo>
                  <a:lnTo>
                    <a:pt x="657" y="456"/>
                  </a:lnTo>
                  <a:lnTo>
                    <a:pt x="649" y="428"/>
                  </a:lnTo>
                  <a:lnTo>
                    <a:pt x="646" y="399"/>
                  </a:lnTo>
                  <a:lnTo>
                    <a:pt x="646" y="396"/>
                  </a:lnTo>
                  <a:lnTo>
                    <a:pt x="649" y="366"/>
                  </a:lnTo>
                  <a:lnTo>
                    <a:pt x="657" y="338"/>
                  </a:lnTo>
                  <a:lnTo>
                    <a:pt x="671" y="312"/>
                  </a:lnTo>
                  <a:lnTo>
                    <a:pt x="689" y="291"/>
                  </a:lnTo>
                  <a:lnTo>
                    <a:pt x="711" y="274"/>
                  </a:lnTo>
                  <a:lnTo>
                    <a:pt x="736" y="260"/>
                  </a:lnTo>
                  <a:lnTo>
                    <a:pt x="764" y="251"/>
                  </a:lnTo>
                  <a:lnTo>
                    <a:pt x="793" y="248"/>
                  </a:lnTo>
                  <a:lnTo>
                    <a:pt x="870" y="248"/>
                  </a:lnTo>
                  <a:lnTo>
                    <a:pt x="889" y="245"/>
                  </a:lnTo>
                  <a:lnTo>
                    <a:pt x="907" y="238"/>
                  </a:lnTo>
                  <a:lnTo>
                    <a:pt x="922" y="226"/>
                  </a:lnTo>
                  <a:lnTo>
                    <a:pt x="933" y="211"/>
                  </a:lnTo>
                  <a:lnTo>
                    <a:pt x="941" y="194"/>
                  </a:lnTo>
                  <a:lnTo>
                    <a:pt x="944" y="174"/>
                  </a:lnTo>
                  <a:lnTo>
                    <a:pt x="944" y="171"/>
                  </a:lnTo>
                  <a:lnTo>
                    <a:pt x="947" y="141"/>
                  </a:lnTo>
                  <a:lnTo>
                    <a:pt x="954" y="112"/>
                  </a:lnTo>
                  <a:lnTo>
                    <a:pt x="967" y="85"/>
                  </a:lnTo>
                  <a:lnTo>
                    <a:pt x="984" y="61"/>
                  </a:lnTo>
                  <a:lnTo>
                    <a:pt x="1005" y="40"/>
                  </a:lnTo>
                  <a:lnTo>
                    <a:pt x="1029" y="23"/>
                  </a:lnTo>
                  <a:lnTo>
                    <a:pt x="1056" y="11"/>
                  </a:lnTo>
                  <a:lnTo>
                    <a:pt x="1085" y="3"/>
                  </a:lnTo>
                  <a:lnTo>
                    <a:pt x="1116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978CA9D4-25A9-4D92-9058-0916DA8EBFE0}"/>
                </a:ext>
              </a:extLst>
            </p:cNvPr>
            <p:cNvSpPr/>
            <p:nvPr/>
          </p:nvSpPr>
          <p:spPr>
            <a:xfrm>
              <a:off x="5762976" y="3009245"/>
              <a:ext cx="666046" cy="3597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나눔명조OTF" panose="02020603020101020101" pitchFamily="18" charset="-127"/>
                  <a:ea typeface="나눔명조OTF" panose="02020603020101020101" pitchFamily="18" charset="-127"/>
                </a:rPr>
                <a:t>Step. 3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CA4E8DD-4695-4111-8F44-6401E0FE678F}"/>
                </a:ext>
              </a:extLst>
            </p:cNvPr>
            <p:cNvSpPr txBox="1"/>
            <p:nvPr/>
          </p:nvSpPr>
          <p:spPr>
            <a:xfrm>
              <a:off x="6574724" y="2790347"/>
              <a:ext cx="475006" cy="422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명조OTF" panose="02020603020101020101" pitchFamily="18" charset="-127"/>
                  <a:ea typeface="나눔명조OTF" panose="02020603020101020101" pitchFamily="18" charset="-127"/>
                </a:rPr>
                <a:t>▶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8E9A1D3-1A39-41E7-9C95-FB100036A949}"/>
                </a:ext>
              </a:extLst>
            </p:cNvPr>
            <p:cNvSpPr txBox="1"/>
            <p:nvPr/>
          </p:nvSpPr>
          <p:spPr>
            <a:xfrm>
              <a:off x="5146126" y="2793492"/>
              <a:ext cx="475006" cy="422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명조OTF" panose="02020603020101020101" pitchFamily="18" charset="-127"/>
                  <a:ea typeface="나눔명조OTF" panose="02020603020101020101" pitchFamily="18" charset="-127"/>
                </a:rPr>
                <a:t>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93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3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테스트 기법 및 관리</a:t>
            </a:r>
          </a:p>
        </p:txBody>
      </p:sp>
      <p:sp>
        <p:nvSpPr>
          <p:cNvPr id="39" name="모서리가 둥근 직사각형 46">
            <a:extLst>
              <a:ext uri="{FF2B5EF4-FFF2-40B4-BE49-F238E27FC236}">
                <a16:creationId xmlns:a16="http://schemas.microsoft.com/office/drawing/2014/main" id="{9AACD286-FB9F-4D48-B73F-E70A82D01364}"/>
              </a:ext>
            </a:extLst>
          </p:cNvPr>
          <p:cNvSpPr/>
          <p:nvPr/>
        </p:nvSpPr>
        <p:spPr>
          <a:xfrm>
            <a:off x="293424" y="1327724"/>
            <a:ext cx="2440445" cy="622374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 w="19050">
            <a:solidFill>
              <a:srgbClr val="AC8A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600"/>
              </a:spcBef>
            </a:pPr>
            <a:r>
              <a:rPr lang="en-US" altLang="ko-KR" sz="2000" dirty="0">
                <a:solidFill>
                  <a:schemeClr val="bg1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Business Process</a:t>
            </a:r>
            <a:endParaRPr lang="ko-KR" altLang="en-US" sz="2000" dirty="0">
              <a:solidFill>
                <a:schemeClr val="bg1"/>
              </a:solidFill>
              <a:latin typeface="나눔명조" panose="02020603020101020101" pitchFamily="18" charset="-127"/>
              <a:ea typeface="나눔명조" panose="02020603020101020101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802605" y="2748754"/>
            <a:ext cx="1741480" cy="101521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rgbClr val="AC8A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/>
              <a:t>기획 리뷰 및 수정</a:t>
            </a:r>
            <a:endParaRPr lang="ko-KR" altLang="en-US" sz="1500" b="1" kern="1200" dirty="0"/>
          </a:p>
        </p:txBody>
      </p:sp>
      <p:sp>
        <p:nvSpPr>
          <p:cNvPr id="50" name="타원 49"/>
          <p:cNvSpPr/>
          <p:nvPr/>
        </p:nvSpPr>
        <p:spPr>
          <a:xfrm>
            <a:off x="3686099" y="2707754"/>
            <a:ext cx="1826423" cy="101521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rgbClr val="AC8A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 err="1"/>
              <a:t>피쳐</a:t>
            </a:r>
            <a:r>
              <a:rPr lang="ko-KR" altLang="en-US" sz="1500" b="1" dirty="0"/>
              <a:t> 리스트 작성</a:t>
            </a:r>
            <a:endParaRPr lang="ko-KR" altLang="en-US" sz="1500" b="1" dirty="0">
              <a:solidFill>
                <a:prstClr val="white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00DE0C1-85E1-471C-B35A-7FDD77910313}"/>
              </a:ext>
            </a:extLst>
          </p:cNvPr>
          <p:cNvSpPr/>
          <p:nvPr/>
        </p:nvSpPr>
        <p:spPr>
          <a:xfrm>
            <a:off x="6679478" y="2699160"/>
            <a:ext cx="1741477" cy="101521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rgbClr val="AC8A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defTabSz="19113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1500" b="1" dirty="0"/>
              <a:t>기획 및</a:t>
            </a:r>
            <a:r>
              <a:rPr lang="en-US" altLang="ko-KR" sz="1500" b="1" dirty="0"/>
              <a:t> </a:t>
            </a:r>
            <a:r>
              <a:rPr lang="ko-KR" altLang="en-US" sz="1500" b="1" dirty="0"/>
              <a:t>개발자 리뷰</a:t>
            </a:r>
            <a:endParaRPr lang="ko-KR" altLang="en-US" sz="1500" b="1" kern="1200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139E158-CC27-4A3B-A33C-B3E0C072A37C}"/>
              </a:ext>
            </a:extLst>
          </p:cNvPr>
          <p:cNvSpPr/>
          <p:nvPr/>
        </p:nvSpPr>
        <p:spPr>
          <a:xfrm>
            <a:off x="9609743" y="2699160"/>
            <a:ext cx="1741477" cy="101521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rgbClr val="AC8A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defTabSz="19113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500" b="1" dirty="0"/>
              <a:t>QA </a:t>
            </a:r>
            <a:r>
              <a:rPr lang="ko-KR" altLang="en-US" sz="1500" b="1" dirty="0"/>
              <a:t>일정 및 배포 일정 협의</a:t>
            </a:r>
            <a:endParaRPr lang="ko-KR" altLang="en-US" sz="1500" b="1" kern="120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43E08CF-F147-4231-B3BB-737EA94F38F6}"/>
              </a:ext>
            </a:extLst>
          </p:cNvPr>
          <p:cNvSpPr/>
          <p:nvPr/>
        </p:nvSpPr>
        <p:spPr>
          <a:xfrm>
            <a:off x="2299295" y="4620897"/>
            <a:ext cx="1741480" cy="101521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rgbClr val="AC8A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defTabSz="19113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500" b="1" kern="1200" dirty="0"/>
              <a:t>TC </a:t>
            </a:r>
            <a:r>
              <a:rPr lang="ko-KR" altLang="en-US" sz="1500" b="1" kern="1200" dirty="0"/>
              <a:t>작성 및 리뷰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A92EDFE-8DF6-4439-96B2-270824CDDCD0}"/>
              </a:ext>
            </a:extLst>
          </p:cNvPr>
          <p:cNvSpPr/>
          <p:nvPr/>
        </p:nvSpPr>
        <p:spPr>
          <a:xfrm>
            <a:off x="5182788" y="4620897"/>
            <a:ext cx="1826423" cy="101521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rgbClr val="AC8A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defTabSz="19113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1500" b="1" kern="1200" dirty="0"/>
              <a:t>테스트 진행 및 이슈 관리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B917573-D9C6-4AE1-8F3F-37F61EF6EF11}"/>
              </a:ext>
            </a:extLst>
          </p:cNvPr>
          <p:cNvSpPr/>
          <p:nvPr/>
        </p:nvSpPr>
        <p:spPr>
          <a:xfrm>
            <a:off x="8151224" y="4620897"/>
            <a:ext cx="1741477" cy="101521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rgbClr val="AC8A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defTabSz="19113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ko-KR" altLang="en-US" sz="1600" b="1" kern="1200" dirty="0"/>
              <a:t>운영 배포</a:t>
            </a:r>
            <a:endParaRPr lang="en-US" altLang="ko-KR" sz="1600" b="1" kern="1200" dirty="0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BAC9DA45-9F99-4FF5-A6FE-9DD304761A5F}"/>
              </a:ext>
            </a:extLst>
          </p:cNvPr>
          <p:cNvSpPr/>
          <p:nvPr/>
        </p:nvSpPr>
        <p:spPr>
          <a:xfrm>
            <a:off x="2920368" y="2837790"/>
            <a:ext cx="436222" cy="837142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848B7D4F-CC53-4FBE-B1A3-15AD7779C4BF}"/>
              </a:ext>
            </a:extLst>
          </p:cNvPr>
          <p:cNvSpPr/>
          <p:nvPr/>
        </p:nvSpPr>
        <p:spPr>
          <a:xfrm>
            <a:off x="5782412" y="2837790"/>
            <a:ext cx="436222" cy="837142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947F7702-6D04-475A-A95A-09E8EE6FF9EA}"/>
              </a:ext>
            </a:extLst>
          </p:cNvPr>
          <p:cNvSpPr/>
          <p:nvPr/>
        </p:nvSpPr>
        <p:spPr>
          <a:xfrm>
            <a:off x="8797238" y="2837790"/>
            <a:ext cx="436222" cy="837142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2D82ACD3-3CBD-42D7-9EF2-3F1A39655F77}"/>
              </a:ext>
            </a:extLst>
          </p:cNvPr>
          <p:cNvSpPr/>
          <p:nvPr/>
        </p:nvSpPr>
        <p:spPr>
          <a:xfrm>
            <a:off x="4393670" y="4709933"/>
            <a:ext cx="436222" cy="837142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A0100173-41B2-4766-9064-5B0A855F5C74}"/>
              </a:ext>
            </a:extLst>
          </p:cNvPr>
          <p:cNvSpPr/>
          <p:nvPr/>
        </p:nvSpPr>
        <p:spPr>
          <a:xfrm>
            <a:off x="7365989" y="4776928"/>
            <a:ext cx="436222" cy="837142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/>
          </a:p>
        </p:txBody>
      </p:sp>
    </p:spTree>
    <p:extLst>
      <p:ext uri="{BB962C8B-B14F-4D97-AF65-F5344CB8AC3E}">
        <p14:creationId xmlns:p14="http://schemas.microsoft.com/office/powerpoint/2010/main" val="2416449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3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테스트 기법 및 관리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448927-D8F0-487A-8C4C-FA34493B515F}"/>
              </a:ext>
            </a:extLst>
          </p:cNvPr>
          <p:cNvSpPr txBox="1"/>
          <p:nvPr/>
        </p:nvSpPr>
        <p:spPr>
          <a:xfrm>
            <a:off x="360000" y="1188000"/>
            <a:ext cx="6279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0" i="0" dirty="0">
                <a:solidFill>
                  <a:srgbClr val="4D5156"/>
                </a:solidFill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White box Testing</a:t>
            </a:r>
            <a:r>
              <a:rPr lang="ko-KR" altLang="en-US" sz="2000" b="0" i="0" dirty="0">
                <a:solidFill>
                  <a:srgbClr val="4D5156"/>
                </a:solidFill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 </a:t>
            </a:r>
            <a:r>
              <a:rPr lang="en-US" altLang="ko-KR" sz="2000" b="0" i="0" dirty="0">
                <a:solidFill>
                  <a:srgbClr val="4D5156"/>
                </a:solidFill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(</a:t>
            </a:r>
            <a:r>
              <a:rPr lang="en-US" altLang="ko-KR" sz="2000" b="0" i="0" dirty="0">
                <a:solidFill>
                  <a:srgbClr val="222222"/>
                </a:solidFill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Component </a:t>
            </a:r>
            <a:r>
              <a:rPr lang="ko-KR" altLang="en-US" sz="2000" b="0" i="0" dirty="0">
                <a:solidFill>
                  <a:srgbClr val="4D5156"/>
                </a:solidFill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테스트</a:t>
            </a:r>
            <a:r>
              <a:rPr lang="en-US" altLang="ko-KR" sz="2000" b="0" i="0" dirty="0">
                <a:solidFill>
                  <a:srgbClr val="4D5156"/>
                </a:solidFill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)</a:t>
            </a:r>
            <a:endParaRPr lang="en-US" altLang="ko-KR" sz="2000" dirty="0">
              <a:latin typeface="나눔명조OTF ExtraBold" panose="02020603020101020101" pitchFamily="18" charset="-127"/>
              <a:ea typeface="나눔명조OTF ExtraBold" panose="0202060302010102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23B9F7-3E8B-4062-B88F-1B1D3649607C}"/>
              </a:ext>
            </a:extLst>
          </p:cNvPr>
          <p:cNvSpPr txBox="1"/>
          <p:nvPr/>
        </p:nvSpPr>
        <p:spPr>
          <a:xfrm>
            <a:off x="504000" y="1947969"/>
            <a:ext cx="575952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Introduction</a:t>
            </a:r>
          </a:p>
          <a:p>
            <a:pPr marL="180000"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프로그램 소스 코드를 활용하여 테스트 설계 및 분석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943D58-D20D-43D4-9D0E-CE1C86D91D35}"/>
              </a:ext>
            </a:extLst>
          </p:cNvPr>
          <p:cNvSpPr txBox="1"/>
          <p:nvPr/>
        </p:nvSpPr>
        <p:spPr>
          <a:xfrm>
            <a:off x="504000" y="3233240"/>
            <a:ext cx="724763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Project details</a:t>
            </a: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독립적인 앱 내부 코드 분석으로 해당 모듈이 의도된 대로 작동 하는지 검증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180000"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→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IDE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를 사용하여 코드를 분석하고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breakpoint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를 활용하여 조건 및 분기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Test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진행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180000">
              <a:spcBef>
                <a:spcPts val="600"/>
              </a:spcBef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→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Debug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버전에서 오류 발생 시 로그 추적 및 전달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E56FD4-408E-40BD-9AA5-DFD4186BB776}"/>
              </a:ext>
            </a:extLst>
          </p:cNvPr>
          <p:cNvSpPr txBox="1"/>
          <p:nvPr/>
        </p:nvSpPr>
        <p:spPr>
          <a:xfrm>
            <a:off x="504000" y="5212690"/>
            <a:ext cx="392513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Software and tools used</a:t>
            </a:r>
          </a:p>
          <a:p>
            <a:pPr algn="l">
              <a:spcBef>
                <a:spcPts val="600"/>
              </a:spcBef>
            </a:pPr>
            <a:r>
              <a:rPr lang="en-US" altLang="ko-KR" sz="1500" dirty="0">
                <a:solidFill>
                  <a:srgbClr val="202124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Visual studio, Android studio, Java,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>
                <a:solidFill>
                  <a:srgbClr val="202124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Jira</a:t>
            </a:r>
            <a:endParaRPr lang="en-US" altLang="ko-KR" sz="1500" b="0" i="0" dirty="0">
              <a:solidFill>
                <a:srgbClr val="202124"/>
              </a:solidFill>
              <a:effectLst/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61E49E-746A-4E16-A0DF-C541ED4123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069" y="1918712"/>
            <a:ext cx="3925139" cy="428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91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3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테스트 기법 및 관리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448927-D8F0-487A-8C4C-FA34493B515F}"/>
              </a:ext>
            </a:extLst>
          </p:cNvPr>
          <p:cNvSpPr txBox="1"/>
          <p:nvPr/>
        </p:nvSpPr>
        <p:spPr>
          <a:xfrm>
            <a:off x="360000" y="1188000"/>
            <a:ext cx="6279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0" i="0" dirty="0">
                <a:solidFill>
                  <a:srgbClr val="4D5156"/>
                </a:solidFill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Black box </a:t>
            </a:r>
            <a:r>
              <a:rPr lang="en-US" altLang="ko-KR" sz="2000" b="0" i="0" dirty="0">
                <a:solidFill>
                  <a:srgbClr val="4D5156"/>
                </a:solidFill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Testing</a:t>
            </a:r>
            <a:r>
              <a:rPr lang="ko-KR" altLang="en-US" sz="1800" b="0" i="0" dirty="0">
                <a:solidFill>
                  <a:srgbClr val="4D5156"/>
                </a:solidFill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 </a:t>
            </a:r>
            <a:r>
              <a:rPr lang="en-US" altLang="ko-KR" sz="1800" b="0" i="0" dirty="0">
                <a:solidFill>
                  <a:srgbClr val="4D5156"/>
                </a:solidFill>
                <a:effectLst/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(App, PC Web, Mobile Web, In App Test)</a:t>
            </a:r>
            <a:endParaRPr lang="en-US" altLang="ko-KR" sz="1800" dirty="0">
              <a:latin typeface="나눔명조OTF ExtraBold" panose="02020603020101020101" pitchFamily="18" charset="-127"/>
              <a:ea typeface="나눔명조OTF ExtraBold" panose="0202060302010102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23B9F7-3E8B-4062-B88F-1B1D3649607C}"/>
              </a:ext>
            </a:extLst>
          </p:cNvPr>
          <p:cNvSpPr txBox="1"/>
          <p:nvPr/>
        </p:nvSpPr>
        <p:spPr>
          <a:xfrm>
            <a:off x="504000" y="1910646"/>
            <a:ext cx="595067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Introduction</a:t>
            </a:r>
          </a:p>
          <a:p>
            <a:pPr marL="180000"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신규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&amp;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기존 프로젝트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Phase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별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Test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및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Regression Test(Real)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진행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943D58-D20D-43D4-9D0E-CE1C86D91D35}"/>
              </a:ext>
            </a:extLst>
          </p:cNvPr>
          <p:cNvSpPr txBox="1"/>
          <p:nvPr/>
        </p:nvSpPr>
        <p:spPr>
          <a:xfrm>
            <a:off x="504000" y="2916000"/>
            <a:ext cx="10583198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700" dirty="0">
                <a:solidFill>
                  <a:prstClr val="black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Test</a:t>
            </a:r>
            <a:r>
              <a:rPr kumimoji="0" lang="en-US" altLang="ko-KR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 details</a:t>
            </a: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리뷰 및 기획서 기반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Test Procedure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및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Test case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설계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인증기관이 발급한 인증서 신규생성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및 재발급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삭제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Flow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검증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통합결제 시스템 검증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(Web, Mobile Web, In App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결제수단 별 등록 및 가 결제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&amp;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실 결제 진행 및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Platform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별 연동 확인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)</a:t>
            </a: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Wiki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및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Figma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를 활용한 상태전이 테스팅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요구사항에 따라 기능테스트 진행 및 성능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부하 등 </a:t>
            </a:r>
            <a:r>
              <a:rPr lang="ko-KR" altLang="en-US" sz="1500" dirty="0" err="1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비기능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테스트 진행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구조 변경에 따른 </a:t>
            </a:r>
            <a:r>
              <a:rPr lang="ko-KR" altLang="en-US" sz="1500" dirty="0" err="1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리팩토링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작업 검증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(Kotlin, Swift, MSA, json)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E56FD4-408E-40BD-9AA5-DFD4186BB776}"/>
              </a:ext>
            </a:extLst>
          </p:cNvPr>
          <p:cNvSpPr txBox="1"/>
          <p:nvPr/>
        </p:nvSpPr>
        <p:spPr>
          <a:xfrm>
            <a:off x="504000" y="5489523"/>
            <a:ext cx="4121563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Software and tools used</a:t>
            </a:r>
          </a:p>
          <a:p>
            <a:pPr algn="l">
              <a:spcBef>
                <a:spcPts val="600"/>
              </a:spcBef>
            </a:pPr>
            <a:r>
              <a:rPr lang="en-US" altLang="ko-KR" sz="1500" dirty="0">
                <a:solidFill>
                  <a:srgbClr val="202124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Wiki, Figma, Slack, Jira, Python Selenium</a:t>
            </a:r>
            <a:endParaRPr lang="en-US" altLang="ko-KR" sz="1500" b="0" i="0" dirty="0">
              <a:solidFill>
                <a:srgbClr val="202124"/>
              </a:solidFill>
              <a:effectLst/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5378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3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테스트 기법 및 관리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448927-D8F0-487A-8C4C-FA34493B515F}"/>
              </a:ext>
            </a:extLst>
          </p:cNvPr>
          <p:cNvSpPr txBox="1"/>
          <p:nvPr/>
        </p:nvSpPr>
        <p:spPr>
          <a:xfrm>
            <a:off x="360000" y="1188000"/>
            <a:ext cx="6279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자동화 테스트</a:t>
            </a:r>
            <a:endParaRPr lang="en-US" altLang="ko-KR" sz="2000" dirty="0">
              <a:latin typeface="나눔명조OTF ExtraBold" panose="02020603020101020101" pitchFamily="18" charset="-127"/>
              <a:ea typeface="나눔명조OTF ExtraBold" panose="0202060302010102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23B9F7-3E8B-4062-B88F-1B1D3649607C}"/>
              </a:ext>
            </a:extLst>
          </p:cNvPr>
          <p:cNvSpPr txBox="1"/>
          <p:nvPr/>
        </p:nvSpPr>
        <p:spPr>
          <a:xfrm>
            <a:off x="504000" y="2087927"/>
            <a:ext cx="7851436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Introduction</a:t>
            </a:r>
          </a:p>
          <a:p>
            <a:pPr marL="180000">
              <a:spcBef>
                <a:spcPts val="600"/>
              </a:spcBef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-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응답 값 확인 및 실제 결과와 예상 결과를 비교 하거나 반복적인 작업에 대한 코딩 및 검증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943D58-D20D-43D4-9D0E-CE1C86D91D35}"/>
              </a:ext>
            </a:extLst>
          </p:cNvPr>
          <p:cNvSpPr txBox="1"/>
          <p:nvPr/>
        </p:nvSpPr>
        <p:spPr>
          <a:xfrm>
            <a:off x="504000" y="3335330"/>
            <a:ext cx="864722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700" dirty="0">
                <a:solidFill>
                  <a:prstClr val="black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Test</a:t>
            </a:r>
            <a:r>
              <a:rPr kumimoji="0" lang="en-US" altLang="ko-KR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 details</a:t>
            </a: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Postman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을 활용한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API Script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코딩 및 자동화 테스트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비 기능 테스트 진행 시 환경 구축을 위한 반복적인 행위에 대해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Selenium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자동화 코딩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모니터링 관련 업무를 정확하고 원활히 진행하기 위해 자동화 동작에 대한 앱 코딩 후 설치 및 진행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E56FD4-408E-40BD-9AA5-DFD4186BB776}"/>
              </a:ext>
            </a:extLst>
          </p:cNvPr>
          <p:cNvSpPr txBox="1"/>
          <p:nvPr/>
        </p:nvSpPr>
        <p:spPr>
          <a:xfrm>
            <a:off x="504000" y="5269782"/>
            <a:ext cx="4598538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7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Software and tools used</a:t>
            </a:r>
          </a:p>
          <a:p>
            <a:pPr algn="l">
              <a:spcBef>
                <a:spcPts val="600"/>
              </a:spcBef>
            </a:pPr>
            <a:r>
              <a:rPr lang="en-US" altLang="ko-KR" sz="1500" dirty="0">
                <a:solidFill>
                  <a:srgbClr val="202124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- Postman, Python, Selenium, Visual Studio Code</a:t>
            </a:r>
            <a:endParaRPr lang="en-US" altLang="ko-KR" sz="1500" b="0" i="0" dirty="0">
              <a:solidFill>
                <a:srgbClr val="202124"/>
              </a:solidFill>
              <a:effectLst/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89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3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테스트 기법 및 관리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3FCDDB-1B7B-4049-B77A-C2F4E2B564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82" y="3697448"/>
            <a:ext cx="3217503" cy="20483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86137CE-BC46-448D-8387-02ED8B4916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937" y="3697448"/>
            <a:ext cx="3667194" cy="20483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2AB3E1-AA1A-4F5F-A675-BFADD7DDBA16}"/>
              </a:ext>
            </a:extLst>
          </p:cNvPr>
          <p:cNvSpPr txBox="1"/>
          <p:nvPr/>
        </p:nvSpPr>
        <p:spPr>
          <a:xfrm>
            <a:off x="360000" y="1188000"/>
            <a:ext cx="6279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자동화 테스트 </a:t>
            </a:r>
            <a:r>
              <a:rPr lang="en-US" altLang="ko-KR" sz="20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- Postman API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538BD20-B3B9-47A2-AF46-F200C25FABD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783" y="3697449"/>
            <a:ext cx="3739318" cy="20483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C286652-A98B-4ADA-B969-B2093E3DBDFB}"/>
              </a:ext>
            </a:extLst>
          </p:cNvPr>
          <p:cNvSpPr txBox="1"/>
          <p:nvPr/>
        </p:nvSpPr>
        <p:spPr>
          <a:xfrm>
            <a:off x="515435" y="2120691"/>
            <a:ext cx="755477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700" dirty="0">
                <a:solidFill>
                  <a:prstClr val="black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Test</a:t>
            </a:r>
            <a:r>
              <a:rPr kumimoji="0" lang="en-US" altLang="ko-KR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 details</a:t>
            </a: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연동정의서 문서를 참고 및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Pairwise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기법을 사용하여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Test Case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작성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Query string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사용하여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GET or POST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방식으로 호출 후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body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영역 체크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필요 시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Pre-request script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에서 전 처리 작업 후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Test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진행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5C2738-A1E4-4AF4-8C5B-FF0D87343E4A}"/>
              </a:ext>
            </a:extLst>
          </p:cNvPr>
          <p:cNvSpPr txBox="1"/>
          <p:nvPr/>
        </p:nvSpPr>
        <p:spPr>
          <a:xfrm>
            <a:off x="803408" y="5999427"/>
            <a:ext cx="22482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Tests </a:t>
            </a:r>
            <a:r>
              <a:rPr lang="ko-KR" altLang="en-US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영역에 코드 작성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5BE3E4-8BAA-4747-9A38-9D4429CB4F0E}"/>
              </a:ext>
            </a:extLst>
          </p:cNvPr>
          <p:cNvSpPr txBox="1"/>
          <p:nvPr/>
        </p:nvSpPr>
        <p:spPr>
          <a:xfrm>
            <a:off x="4501545" y="5999426"/>
            <a:ext cx="26839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request </a:t>
            </a:r>
            <a:r>
              <a:rPr lang="ko-KR" altLang="en-US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실행 후 응답 값 확인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E6F79B-9B9D-44C1-A90E-F0DE6E655851}"/>
              </a:ext>
            </a:extLst>
          </p:cNvPr>
          <p:cNvSpPr txBox="1"/>
          <p:nvPr/>
        </p:nvSpPr>
        <p:spPr>
          <a:xfrm>
            <a:off x="8575739" y="5982177"/>
            <a:ext cx="288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Collection </a:t>
            </a:r>
            <a:r>
              <a:rPr lang="ko-KR" altLang="en-US" sz="16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실행 및 오류 검출</a:t>
            </a:r>
          </a:p>
        </p:txBody>
      </p:sp>
    </p:spTree>
    <p:extLst>
      <p:ext uri="{BB962C8B-B14F-4D97-AF65-F5344CB8AC3E}">
        <p14:creationId xmlns:p14="http://schemas.microsoft.com/office/powerpoint/2010/main" val="2937003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3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테스트 기법 및 관리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2AB3E1-AA1A-4F5F-A675-BFADD7DDBA16}"/>
              </a:ext>
            </a:extLst>
          </p:cNvPr>
          <p:cNvSpPr txBox="1"/>
          <p:nvPr/>
        </p:nvSpPr>
        <p:spPr>
          <a:xfrm>
            <a:off x="360000" y="1188000"/>
            <a:ext cx="6279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자동화 </a:t>
            </a:r>
            <a:r>
              <a:rPr lang="ko-KR" altLang="en-US" sz="20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테스트</a:t>
            </a:r>
            <a:r>
              <a:rPr lang="ko-KR" altLang="en-US" sz="18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 </a:t>
            </a:r>
            <a:r>
              <a:rPr lang="en-US" altLang="ko-KR" sz="1800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- Py</a:t>
            </a:r>
            <a:r>
              <a:rPr lang="en-US" altLang="ko-KR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thon (Selenium, </a:t>
            </a:r>
            <a:r>
              <a:rPr lang="en-US" altLang="ko-KR" dirty="0" err="1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Pyautogui</a:t>
            </a:r>
            <a:r>
              <a:rPr lang="en-US" altLang="ko-KR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)</a:t>
            </a:r>
            <a:endParaRPr lang="en-US" altLang="ko-KR" sz="1800" dirty="0">
              <a:latin typeface="나눔명조OTF ExtraBold" panose="02020603020101020101" pitchFamily="18" charset="-127"/>
              <a:ea typeface="나눔명조OTF ExtraBold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286652-A98B-4ADA-B969-B2093E3DBDFB}"/>
              </a:ext>
            </a:extLst>
          </p:cNvPr>
          <p:cNvSpPr txBox="1"/>
          <p:nvPr/>
        </p:nvSpPr>
        <p:spPr>
          <a:xfrm>
            <a:off x="515435" y="2120691"/>
            <a:ext cx="755477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700" dirty="0">
                <a:solidFill>
                  <a:prstClr val="black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Test</a:t>
            </a:r>
            <a:r>
              <a:rPr kumimoji="0" lang="en-US" altLang="ko-KR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 details</a:t>
            </a: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반복적이고 많은 데이터가 필요한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Test </a:t>
            </a: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환경에서 </a:t>
            </a:r>
            <a:r>
              <a:rPr lang="en-US" altLang="ko-KR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W</a:t>
            </a:r>
            <a:r>
              <a:rPr lang="en-US" altLang="ko-KR" sz="1500" b="0" i="0" dirty="0">
                <a:solidFill>
                  <a:srgbClr val="000000"/>
                </a:solidFill>
                <a:effectLst/>
                <a:latin typeface="나눔명조OTF" panose="02020603020101020101" pitchFamily="18" charset="-127"/>
                <a:ea typeface="나눔명조OTF" panose="02020603020101020101" pitchFamily="18" charset="-127"/>
              </a:rPr>
              <a:t>eb driver</a:t>
            </a:r>
            <a:r>
              <a:rPr lang="ko-KR" altLang="en-US" sz="1500" b="0" i="0" dirty="0">
                <a:solidFill>
                  <a:srgbClr val="000000"/>
                </a:solidFill>
                <a:effectLst/>
                <a:latin typeface="나눔명조OTF" panose="02020603020101020101" pitchFamily="18" charset="-127"/>
                <a:ea typeface="나눔명조OTF" panose="02020603020101020101" pitchFamily="18" charset="-127"/>
              </a:rPr>
              <a:t>를 사용해 데이터 입력</a:t>
            </a:r>
            <a:endParaRPr lang="en-US" altLang="ko-KR" sz="1500" dirty="0">
              <a:solidFill>
                <a:srgbClr val="000000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solidFill>
                  <a:srgbClr val="000000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기능테스트를 위한 코드 작성 및 검증</a:t>
            </a:r>
            <a:endParaRPr lang="en-US" altLang="ko-KR" sz="1500" dirty="0">
              <a:solidFill>
                <a:srgbClr val="000000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solidFill>
                  <a:srgbClr val="000000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시간에 따른 소모전류 측정에 필요한 모니터링 앱 개발 및 설치 후 확인</a:t>
            </a:r>
            <a:endParaRPr lang="en-US" altLang="ko-KR" sz="1500" dirty="0">
              <a:solidFill>
                <a:srgbClr val="000000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4773119-720C-4219-9C87-65D81E2B54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345" y="3860008"/>
            <a:ext cx="2913309" cy="214711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017E1B-FA6D-4235-BC78-CD4E8CB7329F}"/>
              </a:ext>
            </a:extLst>
          </p:cNvPr>
          <p:cNvSpPr txBox="1"/>
          <p:nvPr/>
        </p:nvSpPr>
        <p:spPr>
          <a:xfrm>
            <a:off x="4508152" y="6222952"/>
            <a:ext cx="31733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 err="1">
                <a:latin typeface="나눔명조OTF" panose="02020603020101020101" pitchFamily="18" charset="-127"/>
                <a:ea typeface="나눔명조OTF" panose="02020603020101020101" pitchFamily="18" charset="-127"/>
              </a:rPr>
              <a:t>Pyautogui</a:t>
            </a:r>
            <a:r>
              <a:rPr lang="ko-KR" altLang="en-US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를 사용하여 기능 서포트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A0823B6-24ED-4E33-8D32-77D8045088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23" y="3860010"/>
            <a:ext cx="2597555" cy="21471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D54FCDA-C2F3-4E92-8579-4688793793C1}"/>
              </a:ext>
            </a:extLst>
          </p:cNvPr>
          <p:cNvSpPr txBox="1"/>
          <p:nvPr/>
        </p:nvSpPr>
        <p:spPr>
          <a:xfrm>
            <a:off x="392045" y="6222952"/>
            <a:ext cx="375971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Selenium</a:t>
            </a:r>
            <a:r>
              <a:rPr lang="ko-KR" altLang="en-US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을 사용하기 위해 </a:t>
            </a:r>
            <a:r>
              <a:rPr lang="en-US" altLang="ko-KR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Element </a:t>
            </a:r>
            <a:r>
              <a:rPr lang="ko-KR" altLang="en-US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확인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8F35798-5E95-4C6A-9F5B-F3D6CB7A3D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944" y="3860007"/>
            <a:ext cx="2525882" cy="214711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737281A-E7AF-40A5-A6BF-B3E5C84CB252}"/>
              </a:ext>
            </a:extLst>
          </p:cNvPr>
          <p:cNvSpPr txBox="1"/>
          <p:nvPr/>
        </p:nvSpPr>
        <p:spPr>
          <a:xfrm>
            <a:off x="8164045" y="6154216"/>
            <a:ext cx="36359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자동화를 사용하여 다량의 데이터 입력 후</a:t>
            </a:r>
            <a:r>
              <a:rPr lang="en-US" altLang="ko-KR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, </a:t>
            </a:r>
          </a:p>
          <a:p>
            <a:pPr algn="ctr"/>
            <a:r>
              <a:rPr lang="ko-KR" altLang="en-US" sz="1500" b="1" dirty="0">
                <a:latin typeface="나눔명조OTF" panose="02020603020101020101" pitchFamily="18" charset="-127"/>
                <a:ea typeface="나눔명조OTF" panose="02020603020101020101" pitchFamily="18" charset="-127"/>
              </a:rPr>
              <a:t>기능 및 성능 테스트 진행</a:t>
            </a:r>
          </a:p>
        </p:txBody>
      </p:sp>
    </p:spTree>
    <p:extLst>
      <p:ext uri="{BB962C8B-B14F-4D97-AF65-F5344CB8AC3E}">
        <p14:creationId xmlns:p14="http://schemas.microsoft.com/office/powerpoint/2010/main" val="2655848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3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테스트 기법 및 관리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7CCD12A-B98B-474C-A713-A992085161B0}"/>
              </a:ext>
            </a:extLst>
          </p:cNvPr>
          <p:cNvGrpSpPr/>
          <p:nvPr/>
        </p:nvGrpSpPr>
        <p:grpSpPr>
          <a:xfrm>
            <a:off x="5360565" y="3429000"/>
            <a:ext cx="6244756" cy="3200319"/>
            <a:chOff x="1088644" y="2111406"/>
            <a:chExt cx="9817100" cy="4383500"/>
          </a:xfrm>
        </p:grpSpPr>
        <p:graphicFrame>
          <p:nvGraphicFramePr>
            <p:cNvPr id="31" name="차트 30"/>
            <p:cNvGraphicFramePr/>
            <p:nvPr>
              <p:extLst>
                <p:ext uri="{D42A27DB-BD31-4B8C-83A1-F6EECF244321}">
                  <p14:modId xmlns:p14="http://schemas.microsoft.com/office/powerpoint/2010/main" val="1260011312"/>
                </p:ext>
              </p:extLst>
            </p:nvPr>
          </p:nvGraphicFramePr>
          <p:xfrm>
            <a:off x="1088644" y="2111406"/>
            <a:ext cx="9817100" cy="438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2" name="자유형 31"/>
            <p:cNvSpPr/>
            <p:nvPr/>
          </p:nvSpPr>
          <p:spPr>
            <a:xfrm>
              <a:off x="1315655" y="2689636"/>
              <a:ext cx="9363075" cy="3324225"/>
            </a:xfrm>
            <a:custGeom>
              <a:avLst/>
              <a:gdLst>
                <a:gd name="connsiteX0" fmla="*/ 0 w 9363075"/>
                <a:gd name="connsiteY0" fmla="*/ 3324225 h 3324225"/>
                <a:gd name="connsiteX1" fmla="*/ 1371600 w 9363075"/>
                <a:gd name="connsiteY1" fmla="*/ 3019425 h 3324225"/>
                <a:gd name="connsiteX2" fmla="*/ 2667000 w 9363075"/>
                <a:gd name="connsiteY2" fmla="*/ 2371725 h 3324225"/>
                <a:gd name="connsiteX3" fmla="*/ 3990975 w 9363075"/>
                <a:gd name="connsiteY3" fmla="*/ 2028825 h 3324225"/>
                <a:gd name="connsiteX4" fmla="*/ 5381625 w 9363075"/>
                <a:gd name="connsiteY4" fmla="*/ 1666875 h 3324225"/>
                <a:gd name="connsiteX5" fmla="*/ 6743700 w 9363075"/>
                <a:gd name="connsiteY5" fmla="*/ 800100 h 3324225"/>
                <a:gd name="connsiteX6" fmla="*/ 8048625 w 9363075"/>
                <a:gd name="connsiteY6" fmla="*/ 647700 h 3324225"/>
                <a:gd name="connsiteX7" fmla="*/ 9363075 w 9363075"/>
                <a:gd name="connsiteY7" fmla="*/ 0 h 3324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63075" h="3324225">
                  <a:moveTo>
                    <a:pt x="0" y="3324225"/>
                  </a:moveTo>
                  <a:lnTo>
                    <a:pt x="1371600" y="3019425"/>
                  </a:lnTo>
                  <a:lnTo>
                    <a:pt x="2667000" y="2371725"/>
                  </a:lnTo>
                  <a:lnTo>
                    <a:pt x="3990975" y="2028825"/>
                  </a:lnTo>
                  <a:lnTo>
                    <a:pt x="5381625" y="1666875"/>
                  </a:lnTo>
                  <a:lnTo>
                    <a:pt x="6743700" y="800100"/>
                  </a:lnTo>
                  <a:lnTo>
                    <a:pt x="8048625" y="647700"/>
                  </a:lnTo>
                  <a:lnTo>
                    <a:pt x="93630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184041" y="3103405"/>
              <a:ext cx="2552931" cy="4569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bg1"/>
                  </a:solidFill>
                </a:rPr>
                <a:t>Test Case </a:t>
              </a:r>
              <a:r>
                <a:rPr lang="ko-KR" altLang="en-US" sz="1200" dirty="0">
                  <a:solidFill>
                    <a:schemeClr val="bg1"/>
                  </a:solidFill>
                </a:rPr>
                <a:t>초기</a:t>
              </a:r>
              <a:r>
                <a:rPr lang="en-US" altLang="ko-KR" sz="1200" dirty="0">
                  <a:solidFill>
                    <a:schemeClr val="bg1"/>
                  </a:solidFill>
                </a:rPr>
                <a:t> </a:t>
              </a:r>
              <a:r>
                <a:rPr lang="ko-KR" altLang="en-US" sz="1200" dirty="0">
                  <a:solidFill>
                    <a:schemeClr val="bg1"/>
                  </a:solidFill>
                </a:rPr>
                <a:t>작성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  <p:sp>
          <p:nvSpPr>
            <p:cNvPr id="37" name="자유형 36"/>
            <p:cNvSpPr/>
            <p:nvPr/>
          </p:nvSpPr>
          <p:spPr>
            <a:xfrm>
              <a:off x="1315655" y="3602058"/>
              <a:ext cx="615782" cy="2419379"/>
            </a:xfrm>
            <a:custGeom>
              <a:avLst/>
              <a:gdLst>
                <a:gd name="connsiteX0" fmla="*/ 1921397 w 1921397"/>
                <a:gd name="connsiteY0" fmla="*/ 0 h 1759351"/>
                <a:gd name="connsiteX1" fmla="*/ 0 w 1921397"/>
                <a:gd name="connsiteY1" fmla="*/ 1307939 h 1759351"/>
                <a:gd name="connsiteX2" fmla="*/ 11574 w 1921397"/>
                <a:gd name="connsiteY2" fmla="*/ 1759351 h 1759351"/>
                <a:gd name="connsiteX0" fmla="*/ 1921397 w 1921397"/>
                <a:gd name="connsiteY0" fmla="*/ 0 h 1759351"/>
                <a:gd name="connsiteX1" fmla="*/ 0 w 1921397"/>
                <a:gd name="connsiteY1" fmla="*/ 1307939 h 1759351"/>
                <a:gd name="connsiteX2" fmla="*/ 8399 w 1921397"/>
                <a:gd name="connsiteY2" fmla="*/ 1759351 h 1759351"/>
                <a:gd name="connsiteX0" fmla="*/ 2030726 w 2030726"/>
                <a:gd name="connsiteY0" fmla="*/ 0 h 2734904"/>
                <a:gd name="connsiteX1" fmla="*/ 0 w 2030726"/>
                <a:gd name="connsiteY1" fmla="*/ 2283492 h 2734904"/>
                <a:gd name="connsiteX2" fmla="*/ 8399 w 2030726"/>
                <a:gd name="connsiteY2" fmla="*/ 2734904 h 2734904"/>
                <a:gd name="connsiteX0" fmla="*/ 2022327 w 2022327"/>
                <a:gd name="connsiteY0" fmla="*/ 0 h 2734904"/>
                <a:gd name="connsiteX1" fmla="*/ 11 w 2022327"/>
                <a:gd name="connsiteY1" fmla="*/ 1383629 h 2734904"/>
                <a:gd name="connsiteX2" fmla="*/ 0 w 2022327"/>
                <a:gd name="connsiteY2" fmla="*/ 2734904 h 2734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27" h="2734904">
                  <a:moveTo>
                    <a:pt x="2022327" y="0"/>
                  </a:moveTo>
                  <a:lnTo>
                    <a:pt x="11" y="1383629"/>
                  </a:lnTo>
                  <a:cubicBezTo>
                    <a:pt x="7" y="1834054"/>
                    <a:pt x="4" y="2284479"/>
                    <a:pt x="0" y="2734904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  <a:prstDash val="dash"/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B1F8306D-0885-4F10-8EF4-90777E61D6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80" y="3429000"/>
            <a:ext cx="4004314" cy="3200319"/>
          </a:xfrm>
          <a:prstGeom prst="rect">
            <a:avLst/>
          </a:prstGeom>
        </p:spPr>
      </p:pic>
      <p:sp>
        <p:nvSpPr>
          <p:cNvPr id="14" name="모서리가 둥근 직사각형 46">
            <a:extLst>
              <a:ext uri="{FF2B5EF4-FFF2-40B4-BE49-F238E27FC236}">
                <a16:creationId xmlns:a16="http://schemas.microsoft.com/office/drawing/2014/main" id="{57039D03-0467-42A8-97A7-C0226ADCE79F}"/>
              </a:ext>
            </a:extLst>
          </p:cNvPr>
          <p:cNvSpPr/>
          <p:nvPr/>
        </p:nvSpPr>
        <p:spPr>
          <a:xfrm>
            <a:off x="293424" y="1327724"/>
            <a:ext cx="3283462" cy="622374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 w="19050">
            <a:solidFill>
              <a:srgbClr val="AC8A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2000" dirty="0">
                <a:solidFill>
                  <a:schemeClr val="bg1"/>
                </a:solidFill>
                <a:latin typeface="나눔명조" panose="02020603020101020101" pitchFamily="18" charset="-127"/>
                <a:ea typeface="나눔명조" panose="02020603020101020101" pitchFamily="18" charset="-127"/>
                <a:cs typeface="Arial Unicode MS" panose="020B0604020202020204" pitchFamily="50" charset="-127"/>
              </a:rPr>
              <a:t>테스트케이스 작성 및 관리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8025E3-3468-4A0E-AA9C-7ABBE063C632}"/>
              </a:ext>
            </a:extLst>
          </p:cNvPr>
          <p:cNvSpPr txBox="1"/>
          <p:nvPr/>
        </p:nvSpPr>
        <p:spPr>
          <a:xfrm>
            <a:off x="515435" y="2120691"/>
            <a:ext cx="7554774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700" dirty="0">
                <a:solidFill>
                  <a:prstClr val="black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Test</a:t>
            </a:r>
            <a:r>
              <a:rPr kumimoji="0" lang="en-US" altLang="ko-KR" sz="1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 details</a:t>
            </a: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테스트 설계 기법을 이용하여 테스트케이스 작성</a:t>
            </a:r>
            <a:endParaRPr lang="en-US" altLang="ko-KR" sz="1500" dirty="0">
              <a:latin typeface="나눔명조OTF" panose="02020603020101020101" pitchFamily="18" charset="-127"/>
              <a:ea typeface="나눔명조OTF" panose="02020603020101020101" pitchFamily="18" charset="-127"/>
              <a:cs typeface="Arial Unicode MS" panose="020B0604020202020204" pitchFamily="50" charset="-127"/>
            </a:endParaRPr>
          </a:p>
          <a:p>
            <a:pPr marL="465750" indent="-285750">
              <a:spcBef>
                <a:spcPts val="600"/>
              </a:spcBef>
              <a:buFontTx/>
              <a:buChar char="-"/>
            </a:pPr>
            <a:r>
              <a:rPr lang="ko-KR" altLang="en-US" sz="1500" dirty="0">
                <a:solidFill>
                  <a:srgbClr val="000000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기능 추가 및 삭제</a:t>
            </a:r>
            <a:r>
              <a:rPr lang="en-US" altLang="ko-KR" sz="1500" dirty="0">
                <a:solidFill>
                  <a:srgbClr val="000000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, concept</a:t>
            </a:r>
            <a:r>
              <a:rPr lang="ko-KR" altLang="en-US" sz="1500" dirty="0">
                <a:solidFill>
                  <a:srgbClr val="000000"/>
                </a:solidFill>
                <a:latin typeface="나눔명조OTF" panose="02020603020101020101" pitchFamily="18" charset="-127"/>
                <a:ea typeface="나눔명조OTF" panose="02020603020101020101" pitchFamily="18" charset="-127"/>
                <a:cs typeface="Arial Unicode MS" panose="020B0604020202020204" pitchFamily="50" charset="-127"/>
              </a:rPr>
              <a:t> 변경에 따라 지속적으로 관리</a:t>
            </a:r>
            <a:endParaRPr lang="en-US" altLang="ko-KR" sz="1500" dirty="0">
              <a:solidFill>
                <a:srgbClr val="000000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481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/>
          <a:lstStyle/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Part 3 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</a:rPr>
              <a:t>테스트 기법 및 관리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56A26D-A878-4F53-A3DA-C44F84F26CDB}"/>
              </a:ext>
            </a:extLst>
          </p:cNvPr>
          <p:cNvSpPr txBox="1"/>
          <p:nvPr/>
        </p:nvSpPr>
        <p:spPr>
          <a:xfrm>
            <a:off x="360000" y="1188000"/>
            <a:ext cx="5063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발생 현황 및 잔여 이슈 </a:t>
            </a:r>
            <a:r>
              <a:rPr lang="en-US" altLang="ko-KR" sz="20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Jira </a:t>
            </a:r>
            <a:r>
              <a:rPr lang="ko-KR" altLang="en-US" sz="2000" dirty="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모니터링 관리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F288802-162E-428A-B7E3-9D63095E5BD2}"/>
              </a:ext>
            </a:extLst>
          </p:cNvPr>
          <p:cNvSpPr/>
          <p:nvPr/>
        </p:nvSpPr>
        <p:spPr>
          <a:xfrm>
            <a:off x="906773" y="2094026"/>
            <a:ext cx="1325466" cy="61947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이슈 발견 및 분석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AFBF459-AA95-4B82-A954-8FDF23A3A4C5}"/>
              </a:ext>
            </a:extLst>
          </p:cNvPr>
          <p:cNvSpPr/>
          <p:nvPr/>
        </p:nvSpPr>
        <p:spPr>
          <a:xfrm>
            <a:off x="906771" y="3912770"/>
            <a:ext cx="1325466" cy="61947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심각도 별 분류 및 등록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7FD04A7-6F8C-4D60-B493-7AD16A029CEC}"/>
              </a:ext>
            </a:extLst>
          </p:cNvPr>
          <p:cNvSpPr/>
          <p:nvPr/>
        </p:nvSpPr>
        <p:spPr>
          <a:xfrm>
            <a:off x="906771" y="3003398"/>
            <a:ext cx="1325466" cy="61947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개발자 문의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5C2D72A-FF55-41CE-BBB2-AC1D6AF487F8}"/>
              </a:ext>
            </a:extLst>
          </p:cNvPr>
          <p:cNvSpPr/>
          <p:nvPr/>
        </p:nvSpPr>
        <p:spPr>
          <a:xfrm>
            <a:off x="906771" y="4822141"/>
            <a:ext cx="1325466" cy="61947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수정 후 </a:t>
            </a:r>
            <a:endParaRPr lang="en-US" altLang="ko-KR" sz="1200" dirty="0">
              <a:solidFill>
                <a:schemeClr val="tx1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확인 테스팅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A313799-EF5D-4B97-9465-2B06A0385440}"/>
              </a:ext>
            </a:extLst>
          </p:cNvPr>
          <p:cNvSpPr/>
          <p:nvPr/>
        </p:nvSpPr>
        <p:spPr>
          <a:xfrm>
            <a:off x="906771" y="5731513"/>
            <a:ext cx="1325466" cy="61947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이슈 </a:t>
            </a:r>
            <a:r>
              <a:rPr lang="en-US" altLang="ko-KR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Closed</a:t>
            </a:r>
            <a:endParaRPr lang="ko-KR" altLang="en-US" sz="1200" dirty="0">
              <a:solidFill>
                <a:schemeClr val="tx1"/>
              </a:solidFill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63F2554-9E83-40BE-B584-03A2E2CD796D}"/>
              </a:ext>
            </a:extLst>
          </p:cNvPr>
          <p:cNvSpPr/>
          <p:nvPr/>
        </p:nvSpPr>
        <p:spPr>
          <a:xfrm>
            <a:off x="3395074" y="4819914"/>
            <a:ext cx="1325466" cy="61947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명조OTF" panose="02020603020101020101" pitchFamily="18" charset="-127"/>
                <a:ea typeface="나눔명조OTF" panose="02020603020101020101" pitchFamily="18" charset="-127"/>
              </a:rPr>
              <a:t>이슈 리 오픈 및 개발자 문의</a:t>
            </a:r>
          </a:p>
        </p:txBody>
      </p:sp>
      <p:sp>
        <p:nvSpPr>
          <p:cNvPr id="33" name="화살표: 아래쪽 32">
            <a:extLst>
              <a:ext uri="{FF2B5EF4-FFF2-40B4-BE49-F238E27FC236}">
                <a16:creationId xmlns:a16="http://schemas.microsoft.com/office/drawing/2014/main" id="{DF4A0C2E-C580-4F71-8CEB-B940DBE9A96B}"/>
              </a:ext>
            </a:extLst>
          </p:cNvPr>
          <p:cNvSpPr/>
          <p:nvPr/>
        </p:nvSpPr>
        <p:spPr>
          <a:xfrm>
            <a:off x="1355825" y="2788388"/>
            <a:ext cx="427357" cy="140117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B36AFCAD-9816-41CE-8A19-482B0E6BB1D4}"/>
              </a:ext>
            </a:extLst>
          </p:cNvPr>
          <p:cNvSpPr/>
          <p:nvPr/>
        </p:nvSpPr>
        <p:spPr>
          <a:xfrm>
            <a:off x="1355825" y="3697760"/>
            <a:ext cx="427357" cy="140117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197B1088-3701-4341-96FC-4B862EB32AC3}"/>
              </a:ext>
            </a:extLst>
          </p:cNvPr>
          <p:cNvSpPr/>
          <p:nvPr/>
        </p:nvSpPr>
        <p:spPr>
          <a:xfrm>
            <a:off x="1355825" y="4607132"/>
            <a:ext cx="427357" cy="140117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36" name="화살표: 아래쪽 35">
            <a:extLst>
              <a:ext uri="{FF2B5EF4-FFF2-40B4-BE49-F238E27FC236}">
                <a16:creationId xmlns:a16="http://schemas.microsoft.com/office/drawing/2014/main" id="{1307CF5C-CCEB-409D-B275-A20EC178F425}"/>
              </a:ext>
            </a:extLst>
          </p:cNvPr>
          <p:cNvSpPr/>
          <p:nvPr/>
        </p:nvSpPr>
        <p:spPr>
          <a:xfrm>
            <a:off x="1355825" y="5516504"/>
            <a:ext cx="427357" cy="140117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7E3D1343-D144-4B25-9D41-865C6C321D71}"/>
              </a:ext>
            </a:extLst>
          </p:cNvPr>
          <p:cNvSpPr/>
          <p:nvPr/>
        </p:nvSpPr>
        <p:spPr>
          <a:xfrm rot="10800000">
            <a:off x="2408594" y="5174089"/>
            <a:ext cx="916672" cy="179767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E2E80EEB-0E33-4BF5-B6D2-C335C48FBF6D}"/>
              </a:ext>
            </a:extLst>
          </p:cNvPr>
          <p:cNvSpPr/>
          <p:nvPr/>
        </p:nvSpPr>
        <p:spPr>
          <a:xfrm>
            <a:off x="2408593" y="4940779"/>
            <a:ext cx="916673" cy="179768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sp>
        <p:nvSpPr>
          <p:cNvPr id="39" name="화살표: 위로 굽음 38">
            <a:extLst>
              <a:ext uri="{FF2B5EF4-FFF2-40B4-BE49-F238E27FC236}">
                <a16:creationId xmlns:a16="http://schemas.microsoft.com/office/drawing/2014/main" id="{F0809235-C61B-4FCB-907D-3D6BBC0A972C}"/>
              </a:ext>
            </a:extLst>
          </p:cNvPr>
          <p:cNvSpPr/>
          <p:nvPr/>
        </p:nvSpPr>
        <p:spPr>
          <a:xfrm>
            <a:off x="2485406" y="5547519"/>
            <a:ext cx="1717478" cy="626977"/>
          </a:xfrm>
          <a:prstGeom prst="bentUp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나눔명조OTF" panose="02020603020101020101" pitchFamily="18" charset="-127"/>
              <a:ea typeface="나눔명조OTF" panose="02020603020101020101" pitchFamily="18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C24059E2-45B9-4BF8-B11A-0A5F2835D5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570" y="1417518"/>
            <a:ext cx="5647716" cy="288185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C7F2D85-EBB5-481A-96E1-73F1474A62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570" y="4523563"/>
            <a:ext cx="5647716" cy="204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00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D74D098-247B-465F-9F30-AF79B9337A5A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9C5D3B-158A-4CB0-97C7-0A8180FC65AB}"/>
              </a:ext>
            </a:extLst>
          </p:cNvPr>
          <p:cNvSpPr/>
          <p:nvPr/>
        </p:nvSpPr>
        <p:spPr>
          <a:xfrm>
            <a:off x="0" y="749871"/>
            <a:ext cx="12192000" cy="9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6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B17D1F6-F727-409F-8313-6CCC5B5ECFCD}"/>
              </a:ext>
            </a:extLst>
          </p:cNvPr>
          <p:cNvCxnSpPr>
            <a:cxnSpLocks/>
          </p:cNvCxnSpPr>
          <p:nvPr/>
        </p:nvCxnSpPr>
        <p:spPr>
          <a:xfrm>
            <a:off x="0" y="785346"/>
            <a:ext cx="12192000" cy="0"/>
          </a:xfrm>
          <a:prstGeom prst="line">
            <a:avLst/>
          </a:prstGeom>
          <a:ln w="28575" cap="rnd">
            <a:solidFill>
              <a:schemeClr val="tx1">
                <a:lumMod val="50000"/>
                <a:lumOff val="50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B52DEE-E201-40DA-8B94-7A1BBE47C633}"/>
              </a:ext>
            </a:extLst>
          </p:cNvPr>
          <p:cNvSpPr/>
          <p:nvPr/>
        </p:nvSpPr>
        <p:spPr>
          <a:xfrm>
            <a:off x="0" y="0"/>
            <a:ext cx="12192000" cy="900792"/>
          </a:xfrm>
          <a:prstGeom prst="rect">
            <a:avLst/>
          </a:prstGeom>
          <a:blipFill dpi="0" rotWithShape="1">
            <a:blip r:embed="rId2">
              <a:alphaModFix amt="32000"/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08000" rtlCol="0" anchor="t" anchorCtr="0"/>
          <a:lstStyle/>
          <a:p>
            <a:pPr lvl="1">
              <a:lnSpc>
                <a:spcPct val="110000"/>
              </a:lnSpc>
            </a:pPr>
            <a:endParaRPr lang="en-US" altLang="ko-KR" sz="2400" b="1" i="1" dirty="0">
              <a:latin typeface="나눔명조OTF ExtraBold" panose="02020603020101020101" pitchFamily="18" charset="-127"/>
              <a:ea typeface="나눔명조OTF ExtraBold" panose="02020603020101020101" pitchFamily="18" charset="-127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ko-KR" sz="2400" b="1" i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Arial" panose="020B0604020202020204" pitchFamily="34" charset="0"/>
              </a:rPr>
              <a:t>E.N.D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83CBA2-8B21-415D-A3E7-3673EF3CE682}"/>
              </a:ext>
            </a:extLst>
          </p:cNvPr>
          <p:cNvSpPr txBox="1"/>
          <p:nvPr/>
        </p:nvSpPr>
        <p:spPr>
          <a:xfrm>
            <a:off x="3773997" y="3169815"/>
            <a:ext cx="48205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7200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" panose="020B0502040504020204" pitchFamily="34" charset="0"/>
              </a:rPr>
              <a:t>감사합니다</a:t>
            </a:r>
            <a:r>
              <a:rPr kumimoji="1" lang="en-US" altLang="en-US" sz="7200" b="1" dirty="0">
                <a:latin typeface="나눔명조OTF ExtraBold" panose="02020603020101020101" pitchFamily="18" charset="-127"/>
                <a:ea typeface="나눔명조OTF ExtraBold" panose="02020603020101020101" pitchFamily="18" charset="-127"/>
                <a:cs typeface="Noto Sans" panose="020B0502040504020204" pitchFamily="34" charset="0"/>
              </a:rPr>
              <a:t>.</a:t>
            </a:r>
            <a:endParaRPr kumimoji="1" lang="en-US" altLang="ko-Kore-KR" sz="7200" b="1" dirty="0">
              <a:latin typeface="나눔명조OTF ExtraBold" panose="02020603020101020101" pitchFamily="18" charset="-127"/>
              <a:ea typeface="나눔명조OTF ExtraBold" panose="02020603020101020101" pitchFamily="18" charset="-127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86797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1221</Words>
  <Application>Microsoft Office PowerPoint</Application>
  <PresentationFormat>와이드스크린</PresentationFormat>
  <Paragraphs>231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Tmon몬소리 Black</vt:lpstr>
      <vt:lpstr>나눔명조</vt:lpstr>
      <vt:lpstr>나눔명조 ExtraBold</vt:lpstr>
      <vt:lpstr>나눔명조OTF</vt:lpstr>
      <vt:lpstr>나눔명조OTF ExtraBold</vt:lpstr>
      <vt:lpstr>맑은 고딕</vt:lpstr>
      <vt:lpstr>AmeriGarmnd BT</vt:lpstr>
      <vt:lpstr>Arial</vt:lpstr>
      <vt:lpstr>6_Office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L</cp:lastModifiedBy>
  <cp:revision>51</cp:revision>
  <dcterms:created xsi:type="dcterms:W3CDTF">2021-11-11T06:29:41Z</dcterms:created>
  <dcterms:modified xsi:type="dcterms:W3CDTF">2022-01-18T15:16:54Z</dcterms:modified>
</cp:coreProperties>
</file>